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2.svg" ContentType="image/svg+xml"/>
  <Override PartName="/ppt/media/image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3"/>
    <p:sldId id="259" r:id="rId4"/>
    <p:sldId id="261" r:id="rId6"/>
    <p:sldId id="285" r:id="rId7"/>
    <p:sldId id="277" r:id="rId8"/>
    <p:sldId id="280" r:id="rId9"/>
    <p:sldId id="287" r:id="rId10"/>
    <p:sldId id="267" r:id="rId11"/>
    <p:sldId id="279" r:id="rId12"/>
    <p:sldId id="286" r:id="rId13"/>
    <p:sldId id="288" r:id="rId14"/>
    <p:sldId id="289" r:id="rId15"/>
  </p:sldIdLst>
  <p:sldSz cx="18288000" cy="10287000"/>
  <p:notesSz cx="6858000" cy="9144000"/>
  <p:embeddedFontLst>
    <p:embeddedFont>
      <p:font typeface="Antonio Bold" panose="02000803000000000000"/>
      <p:bold r:id="rId19"/>
    </p:embeddedFont>
    <p:embeddedFont>
      <p:font typeface="TT Supermolot Neue Bold" panose="02000803030000020004"/>
      <p:bold r:id="rId20"/>
    </p:embeddedFont>
    <p:embeddedFont>
      <p:font typeface="Calibri" panose="020F0502020204030204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379" autoAdjust="0"/>
  </p:normalViewPr>
  <p:slideViewPr>
    <p:cSldViewPr showGuides="1">
      <p:cViewPr>
        <p:scale>
          <a:sx n="60" d="100"/>
          <a:sy n="60" d="100"/>
        </p:scale>
        <p:origin x="370" y="-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4A60E-1105-470D-914E-02AA3EF8CB38}" type="datetimeFigureOut">
              <a:rPr lang="en-ID" smtClean="0"/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EF495-9824-46ED-9711-75E22882AA32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EF495-9824-46ED-9711-75E22882AA32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EF495-9824-46ED-9711-75E22882AA32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EF495-9824-46ED-9711-75E22882AA32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EF495-9824-46ED-9711-75E22882AA32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EF495-9824-46ED-9711-75E22882AA32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EF495-9824-46ED-9711-75E22882AA32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EF495-9824-46ED-9711-75E22882AA32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EF495-9824-46ED-9711-75E22882AA32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EF495-9824-46ED-9711-75E22882AA32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EF495-9824-46ED-9711-75E22882AA32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EF495-9824-46ED-9711-75E22882AA32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8410" y="1028700"/>
            <a:ext cx="5745757" cy="8229600"/>
          </a:xfrm>
          <a:custGeom>
            <a:avLst/>
            <a:gdLst/>
            <a:ahLst/>
            <a:cxnLst/>
            <a:rect l="l" t="t" r="r" b="b"/>
            <a:pathLst>
              <a:path w="5745757" h="8229600">
                <a:moveTo>
                  <a:pt x="0" y="0"/>
                </a:moveTo>
                <a:lnTo>
                  <a:pt x="5745757" y="0"/>
                </a:lnTo>
                <a:lnTo>
                  <a:pt x="57457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3" name="Group 3"/>
          <p:cNvGrpSpPr/>
          <p:nvPr/>
        </p:nvGrpSpPr>
        <p:grpSpPr>
          <a:xfrm>
            <a:off x="8686801" y="5007569"/>
            <a:ext cx="7192772" cy="1719730"/>
            <a:chOff x="0" y="0"/>
            <a:chExt cx="1068449" cy="2480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8450" cy="248008"/>
            </a:xfrm>
            <a:custGeom>
              <a:avLst/>
              <a:gdLst/>
              <a:ahLst/>
              <a:cxnLst/>
              <a:rect l="l" t="t" r="r" b="b"/>
              <a:pathLst>
                <a:path w="1068450" h="248008">
                  <a:moveTo>
                    <a:pt x="124004" y="0"/>
                  </a:moveTo>
                  <a:lnTo>
                    <a:pt x="944446" y="0"/>
                  </a:lnTo>
                  <a:cubicBezTo>
                    <a:pt x="1012931" y="0"/>
                    <a:pt x="1068450" y="55518"/>
                    <a:pt x="1068450" y="124004"/>
                  </a:cubicBezTo>
                  <a:lnTo>
                    <a:pt x="1068450" y="124004"/>
                  </a:lnTo>
                  <a:cubicBezTo>
                    <a:pt x="1068450" y="192489"/>
                    <a:pt x="1012931" y="248008"/>
                    <a:pt x="944446" y="248008"/>
                  </a:cubicBezTo>
                  <a:lnTo>
                    <a:pt x="124004" y="248008"/>
                  </a:lnTo>
                  <a:cubicBezTo>
                    <a:pt x="55518" y="248008"/>
                    <a:pt x="0" y="192489"/>
                    <a:pt x="0" y="124004"/>
                  </a:cubicBezTo>
                  <a:lnTo>
                    <a:pt x="0" y="124004"/>
                  </a:lnTo>
                  <a:cubicBezTo>
                    <a:pt x="0" y="55518"/>
                    <a:pt x="55518" y="0"/>
                    <a:pt x="124004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68449" cy="286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6497132" y="6879039"/>
            <a:ext cx="3581736" cy="2901206"/>
          </a:xfrm>
          <a:custGeom>
            <a:avLst/>
            <a:gdLst/>
            <a:ahLst/>
            <a:cxnLst/>
            <a:rect l="l" t="t" r="r" b="b"/>
            <a:pathLst>
              <a:path w="3581736" h="2901206">
                <a:moveTo>
                  <a:pt x="3581736" y="0"/>
                </a:moveTo>
                <a:lnTo>
                  <a:pt x="0" y="0"/>
                </a:lnTo>
                <a:lnTo>
                  <a:pt x="0" y="2901205"/>
                </a:lnTo>
                <a:lnTo>
                  <a:pt x="3581736" y="2901205"/>
                </a:lnTo>
                <a:lnTo>
                  <a:pt x="358173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6611087" y="2372343"/>
            <a:ext cx="11102227" cy="2499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8000" b="1" dirty="0" err="1">
                <a:solidFill>
                  <a:srgbClr val="E1B92E"/>
                </a:solidFill>
                <a:latin typeface="Antonio Bold" panose="02000803000000000000"/>
                <a:ea typeface="Antonio Bold" panose="02000803000000000000"/>
                <a:cs typeface="Antonio Bold" panose="02000803000000000000"/>
                <a:sym typeface="Antonio Bold" panose="02000803000000000000"/>
              </a:rPr>
              <a:t>Pengabdian</a:t>
            </a:r>
            <a:r>
              <a:rPr lang="en-US" sz="8000" b="1" dirty="0">
                <a:solidFill>
                  <a:srgbClr val="E1B92E"/>
                </a:solidFill>
                <a:latin typeface="Antonio Bold" panose="02000803000000000000"/>
                <a:ea typeface="Antonio Bold" panose="02000803000000000000"/>
                <a:cs typeface="Antonio Bold" panose="02000803000000000000"/>
                <a:sym typeface="Antonio Bold" panose="02000803000000000000"/>
              </a:rPr>
              <a:t> </a:t>
            </a:r>
            <a:r>
              <a:rPr lang="en-US" sz="8000" b="1" dirty="0" err="1">
                <a:solidFill>
                  <a:srgbClr val="E1B92E"/>
                </a:solidFill>
                <a:latin typeface="Antonio Bold" panose="02000803000000000000"/>
                <a:ea typeface="Antonio Bold" panose="02000803000000000000"/>
                <a:cs typeface="Antonio Bold" panose="02000803000000000000"/>
                <a:sym typeface="Antonio Bold" panose="02000803000000000000"/>
              </a:rPr>
              <a:t>Kepada</a:t>
            </a:r>
            <a:r>
              <a:rPr lang="en-US" sz="8000" b="1" dirty="0">
                <a:solidFill>
                  <a:srgbClr val="E1B92E"/>
                </a:solidFill>
                <a:latin typeface="Antonio Bold" panose="02000803000000000000"/>
                <a:ea typeface="Antonio Bold" panose="02000803000000000000"/>
                <a:cs typeface="Antonio Bold" panose="02000803000000000000"/>
                <a:sym typeface="Antonio Bold" panose="02000803000000000000"/>
              </a:rPr>
              <a:t> Masyarakat</a:t>
            </a:r>
            <a:endParaRPr lang="en-US" sz="8000" b="1" dirty="0">
              <a:solidFill>
                <a:srgbClr val="E1B92E"/>
              </a:solidFill>
              <a:latin typeface="Antonio Bold" panose="02000803000000000000"/>
              <a:ea typeface="Antonio Bold" panose="02000803000000000000"/>
              <a:cs typeface="Antonio Bold" panose="02000803000000000000"/>
              <a:sym typeface="Antonio Bold" panose="02000803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180619" y="7270694"/>
            <a:ext cx="10205133" cy="537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4800" b="1" dirty="0" err="1">
                <a:solidFill>
                  <a:srgbClr val="FFFFFF"/>
                </a:solidFill>
                <a:latin typeface="TT Supermolot Neue Bold" panose="02000803030000020004"/>
                <a:ea typeface="TT Supermolot Neue Bold" panose="02000803030000020004"/>
                <a:cs typeface="TT Supermolot Neue Bold" panose="02000803030000020004"/>
                <a:sym typeface="TT Supermolot Neue Bold" panose="02000803030000020004"/>
              </a:rPr>
              <a:t>Pengenalan</a:t>
            </a:r>
            <a:r>
              <a:rPr lang="en-US" sz="4800" b="1" dirty="0">
                <a:solidFill>
                  <a:srgbClr val="FFFFFF"/>
                </a:solidFill>
                <a:latin typeface="TT Supermolot Neue Bold" panose="02000803030000020004"/>
                <a:ea typeface="TT Supermolot Neue Bold" panose="02000803030000020004"/>
                <a:cs typeface="TT Supermolot Neue Bold" panose="02000803030000020004"/>
                <a:sym typeface="TT Supermolot Neue Bold" panose="02000803030000020004"/>
              </a:rPr>
              <a:t> Bahasa Python </a:t>
            </a:r>
            <a:endParaRPr lang="en-US" sz="4800" b="1" dirty="0">
              <a:solidFill>
                <a:srgbClr val="FFFFFF"/>
              </a:solidFill>
              <a:latin typeface="TT Supermolot Neue Bold" panose="02000803030000020004"/>
              <a:ea typeface="TT Supermolot Neue Bold" panose="02000803030000020004"/>
              <a:cs typeface="TT Supermolot Neue Bold" panose="02000803030000020004"/>
              <a:sym typeface="TT Supermolot Neue Bold" panose="020008030300000200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832936" y="5365548"/>
            <a:ext cx="4900501" cy="968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 dirty="0">
                <a:solidFill>
                  <a:srgbClr val="FFFFFF"/>
                </a:solidFill>
                <a:latin typeface="TT Supermolot Neue Bold" panose="02000803030000020004"/>
                <a:ea typeface="TT Supermolot Neue Bold" panose="02000803030000020004"/>
                <a:cs typeface="TT Supermolot Neue Bold" panose="02000803030000020004"/>
                <a:sym typeface="TT Supermolot Neue Bold" panose="02000803030000020004"/>
              </a:rPr>
              <a:t>SMK </a:t>
            </a:r>
            <a:r>
              <a:rPr lang="en-US" sz="2800" b="1" dirty="0" err="1">
                <a:solidFill>
                  <a:srgbClr val="FFFFFF"/>
                </a:solidFill>
                <a:latin typeface="TT Supermolot Neue Bold" panose="02000803030000020004"/>
                <a:ea typeface="TT Supermolot Neue Bold" panose="02000803030000020004"/>
                <a:cs typeface="TT Supermolot Neue Bold" panose="02000803030000020004"/>
                <a:sym typeface="TT Supermolot Neue Bold" panose="02000803030000020004"/>
              </a:rPr>
              <a:t>Mulia</a:t>
            </a:r>
            <a:r>
              <a:rPr lang="en-US" sz="2800" b="1" dirty="0">
                <a:solidFill>
                  <a:srgbClr val="FFFFFF"/>
                </a:solidFill>
                <a:latin typeface="TT Supermolot Neue Bold" panose="02000803030000020004"/>
                <a:ea typeface="TT Supermolot Neue Bold" panose="02000803030000020004"/>
                <a:cs typeface="TT Supermolot Neue Bold" panose="02000803030000020004"/>
                <a:sym typeface="TT Supermolot Neue Bold" panose="02000803030000020004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TT Supermolot Neue Bold" panose="02000803030000020004"/>
                <a:ea typeface="TT Supermolot Neue Bold" panose="02000803030000020004"/>
                <a:cs typeface="TT Supermolot Neue Bold" panose="02000803030000020004"/>
                <a:sym typeface="TT Supermolot Neue Bold" panose="02000803030000020004"/>
              </a:rPr>
              <a:t>Buana</a:t>
            </a:r>
            <a:r>
              <a:rPr lang="en-US" sz="2800" b="1" dirty="0">
                <a:solidFill>
                  <a:srgbClr val="FFFFFF"/>
                </a:solidFill>
                <a:latin typeface="TT Supermolot Neue Bold" panose="02000803030000020004"/>
                <a:ea typeface="TT Supermolot Neue Bold" panose="02000803030000020004"/>
                <a:cs typeface="TT Supermolot Neue Bold" panose="02000803030000020004"/>
                <a:sym typeface="TT Supermolot Neue Bold" panose="02000803030000020004"/>
              </a:rPr>
              <a:t> </a:t>
            </a:r>
            <a:endParaRPr lang="en-US" sz="2800" b="1" dirty="0">
              <a:solidFill>
                <a:srgbClr val="FFFFFF"/>
              </a:solidFill>
              <a:latin typeface="TT Supermolot Neue Bold" panose="02000803030000020004"/>
              <a:ea typeface="TT Supermolot Neue Bold" panose="02000803030000020004"/>
              <a:cs typeface="TT Supermolot Neue Bold" panose="02000803030000020004"/>
              <a:sym typeface="TT Supermolot Neue Bold" panose="02000803030000020004"/>
            </a:endParaRPr>
          </a:p>
          <a:p>
            <a:pPr algn="ctr">
              <a:lnSpc>
                <a:spcPts val="3920"/>
              </a:lnSpc>
            </a:pPr>
            <a:r>
              <a:rPr lang="en-US" sz="2800" b="1" dirty="0">
                <a:solidFill>
                  <a:srgbClr val="FFFFFF"/>
                </a:solidFill>
                <a:latin typeface="TT Supermolot Neue Bold" panose="02000803030000020004"/>
                <a:ea typeface="TT Supermolot Neue Bold" panose="02000803030000020004"/>
                <a:cs typeface="TT Supermolot Neue Bold" panose="02000803030000020004"/>
                <a:sym typeface="TT Supermolot Neue Bold" panose="02000803030000020004"/>
              </a:rPr>
              <a:t>Universitas </a:t>
            </a:r>
            <a:r>
              <a:rPr lang="en-US" sz="2800" b="1" dirty="0" err="1">
                <a:solidFill>
                  <a:srgbClr val="FFFFFF"/>
                </a:solidFill>
                <a:latin typeface="TT Supermolot Neue Bold" panose="02000803030000020004"/>
                <a:ea typeface="TT Supermolot Neue Bold" panose="02000803030000020004"/>
                <a:cs typeface="TT Supermolot Neue Bold" panose="02000803030000020004"/>
                <a:sym typeface="TT Supermolot Neue Bold" panose="02000803030000020004"/>
              </a:rPr>
              <a:t>Pamulang</a:t>
            </a:r>
            <a:endParaRPr lang="en-US" sz="2800" b="1" dirty="0">
              <a:solidFill>
                <a:srgbClr val="FFFFFF"/>
              </a:solidFill>
              <a:latin typeface="TT Supermolot Neue Bold" panose="02000803030000020004"/>
              <a:ea typeface="TT Supermolot Neue Bold" panose="02000803030000020004"/>
              <a:cs typeface="TT Supermolot Neue Bold" panose="02000803030000020004"/>
              <a:sym typeface="TT Supermolot Neue Bold" panose="02000803030000020004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373020" y="9520630"/>
            <a:ext cx="446739" cy="446739"/>
          </a:xfrm>
          <a:custGeom>
            <a:avLst/>
            <a:gdLst/>
            <a:ahLst/>
            <a:cxnLst/>
            <a:rect l="l" t="t" r="r" b="b"/>
            <a:pathLst>
              <a:path w="446739" h="446739">
                <a:moveTo>
                  <a:pt x="0" y="0"/>
                </a:moveTo>
                <a:lnTo>
                  <a:pt x="446738" y="0"/>
                </a:lnTo>
                <a:lnTo>
                  <a:pt x="446738" y="446739"/>
                </a:lnTo>
                <a:lnTo>
                  <a:pt x="0" y="446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1" name="TextBox 11"/>
          <p:cNvSpPr txBox="1"/>
          <p:nvPr/>
        </p:nvSpPr>
        <p:spPr>
          <a:xfrm>
            <a:off x="916671" y="9503747"/>
            <a:ext cx="2448371" cy="42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INFOTI_UNPAM</a:t>
            </a:r>
            <a:endParaRPr lang="en-US" sz="2455" dirty="0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2718496" y="9546973"/>
            <a:ext cx="421901" cy="394053"/>
          </a:xfrm>
          <a:custGeom>
            <a:avLst/>
            <a:gdLst/>
            <a:ahLst/>
            <a:cxnLst/>
            <a:rect l="l" t="t" r="r" b="b"/>
            <a:pathLst>
              <a:path w="421901" h="394053">
                <a:moveTo>
                  <a:pt x="0" y="0"/>
                </a:moveTo>
                <a:lnTo>
                  <a:pt x="421900" y="0"/>
                </a:lnTo>
                <a:lnTo>
                  <a:pt x="421900" y="394053"/>
                </a:lnTo>
                <a:lnTo>
                  <a:pt x="0" y="3940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066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3" name="TextBox 13"/>
          <p:cNvSpPr txBox="1"/>
          <p:nvPr/>
        </p:nvSpPr>
        <p:spPr>
          <a:xfrm>
            <a:off x="13140396" y="9503747"/>
            <a:ext cx="4772710" cy="42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INFORMATIKA.UNPAM.AC.ID</a:t>
            </a:r>
            <a:endParaRPr lang="en-US" sz="2455" dirty="0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32388" y="3361167"/>
            <a:ext cx="14555411" cy="4743663"/>
            <a:chOff x="0" y="0"/>
            <a:chExt cx="1651243" cy="11360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1243" cy="1136075"/>
            </a:xfrm>
            <a:custGeom>
              <a:avLst/>
              <a:gdLst/>
              <a:ahLst/>
              <a:cxnLst/>
              <a:rect l="l" t="t" r="r" b="b"/>
              <a:pathLst>
                <a:path w="1651243" h="1136075">
                  <a:moveTo>
                    <a:pt x="24697" y="0"/>
                  </a:moveTo>
                  <a:lnTo>
                    <a:pt x="1626547" y="0"/>
                  </a:lnTo>
                  <a:cubicBezTo>
                    <a:pt x="1633097" y="0"/>
                    <a:pt x="1639378" y="2602"/>
                    <a:pt x="1644010" y="7234"/>
                  </a:cubicBezTo>
                  <a:cubicBezTo>
                    <a:pt x="1648641" y="11865"/>
                    <a:pt x="1651243" y="18147"/>
                    <a:pt x="1651243" y="24697"/>
                  </a:cubicBezTo>
                  <a:lnTo>
                    <a:pt x="1651243" y="1111378"/>
                  </a:lnTo>
                  <a:cubicBezTo>
                    <a:pt x="1651243" y="1125018"/>
                    <a:pt x="1640186" y="1136075"/>
                    <a:pt x="1626547" y="1136075"/>
                  </a:cubicBezTo>
                  <a:lnTo>
                    <a:pt x="24697" y="1136075"/>
                  </a:lnTo>
                  <a:cubicBezTo>
                    <a:pt x="18147" y="1136075"/>
                    <a:pt x="11865" y="1133473"/>
                    <a:pt x="7234" y="1128841"/>
                  </a:cubicBezTo>
                  <a:cubicBezTo>
                    <a:pt x="2602" y="1124210"/>
                    <a:pt x="0" y="1117928"/>
                    <a:pt x="0" y="1111378"/>
                  </a:cubicBezTo>
                  <a:lnTo>
                    <a:pt x="0" y="24697"/>
                  </a:lnTo>
                  <a:cubicBezTo>
                    <a:pt x="0" y="18147"/>
                    <a:pt x="2602" y="11865"/>
                    <a:pt x="7234" y="7234"/>
                  </a:cubicBezTo>
                  <a:cubicBezTo>
                    <a:pt x="11865" y="2602"/>
                    <a:pt x="18147" y="0"/>
                    <a:pt x="24697" y="0"/>
                  </a:cubicBezTo>
                  <a:close/>
                </a:path>
              </a:pathLst>
            </a:custGeom>
            <a:solidFill>
              <a:srgbClr val="F5F5F5">
                <a:alpha val="19608"/>
              </a:srgbClr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51243" cy="1174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93062" y="8465073"/>
            <a:ext cx="9480557" cy="5657850"/>
            <a:chOff x="0" y="0"/>
            <a:chExt cx="1361966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1966" cy="812800"/>
            </a:xfrm>
            <a:custGeom>
              <a:avLst/>
              <a:gdLst/>
              <a:ahLst/>
              <a:cxnLst/>
              <a:rect l="l" t="t" r="r" b="b"/>
              <a:pathLst>
                <a:path w="1361966" h="812800">
                  <a:moveTo>
                    <a:pt x="680983" y="0"/>
                  </a:moveTo>
                  <a:cubicBezTo>
                    <a:pt x="304886" y="0"/>
                    <a:pt x="0" y="181951"/>
                    <a:pt x="0" y="406400"/>
                  </a:cubicBezTo>
                  <a:cubicBezTo>
                    <a:pt x="0" y="630849"/>
                    <a:pt x="304886" y="812800"/>
                    <a:pt x="680983" y="812800"/>
                  </a:cubicBezTo>
                  <a:cubicBezTo>
                    <a:pt x="1057079" y="812800"/>
                    <a:pt x="1361966" y="630849"/>
                    <a:pt x="1361966" y="406400"/>
                  </a:cubicBezTo>
                  <a:cubicBezTo>
                    <a:pt x="1361966" y="181951"/>
                    <a:pt x="1057079" y="0"/>
                    <a:pt x="680983" y="0"/>
                  </a:cubicBezTo>
                  <a:close/>
                </a:path>
              </a:pathLst>
            </a:custGeom>
            <a:solidFill>
              <a:srgbClr val="E1B92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7684" y="38100"/>
              <a:ext cx="1106597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276600" y="2066865"/>
            <a:ext cx="13598678" cy="1515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9600" b="1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Quotes Of The Day :</a:t>
            </a:r>
            <a:br>
              <a:rPr lang="en-US" sz="9600" b="1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lang="en-US" sz="6400" b="1" dirty="0">
              <a:solidFill>
                <a:schemeClr val="bg1"/>
              </a:solidFill>
              <a:latin typeface="TT Supermolot Neue Bold" panose="02000803030000020004"/>
              <a:ea typeface="TT Supermolot Neue Bold" panose="02000803030000020004"/>
              <a:cs typeface="TT Supermolot Neue Bold" panose="02000803030000020004"/>
              <a:sym typeface="TT Supermolot Neue Bold" panose="020008030300000200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194709" y="3715207"/>
            <a:ext cx="14493089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orang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jenius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Tapi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jika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kamu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menilai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D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4200"/>
              </a:lnSpc>
            </a:pP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ikan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kemampuannya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memanjat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pohon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hidup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seumur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hidupnya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percaya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bahwa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bodoh</a:t>
            </a:r>
            <a:r>
              <a:rPr lang="en-ID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."</a:t>
            </a:r>
            <a:br>
              <a:rPr lang="en-ID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ID" sz="4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Albert Einstein</a:t>
            </a: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ea typeface="TT Supermolot Neue"/>
              <a:cs typeface="Times New Roman" panose="02020603050405020304" pitchFamily="18" charset="0"/>
              <a:sym typeface="TT Supermolot Neue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373020" y="9520630"/>
            <a:ext cx="446739" cy="446739"/>
          </a:xfrm>
          <a:custGeom>
            <a:avLst/>
            <a:gdLst/>
            <a:ahLst/>
            <a:cxnLst/>
            <a:rect l="l" t="t" r="r" b="b"/>
            <a:pathLst>
              <a:path w="446739" h="446739">
                <a:moveTo>
                  <a:pt x="0" y="0"/>
                </a:moveTo>
                <a:lnTo>
                  <a:pt x="446738" y="0"/>
                </a:lnTo>
                <a:lnTo>
                  <a:pt x="446738" y="446739"/>
                </a:lnTo>
                <a:lnTo>
                  <a:pt x="0" y="44673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3" name="TextBox 13"/>
          <p:cNvSpPr txBox="1"/>
          <p:nvPr/>
        </p:nvSpPr>
        <p:spPr>
          <a:xfrm>
            <a:off x="916671" y="9503747"/>
            <a:ext cx="2448371" cy="42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INFOTI_UNPAM</a:t>
            </a:r>
            <a:endParaRPr lang="en-US" sz="2455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2718496" y="9546973"/>
            <a:ext cx="421901" cy="394053"/>
          </a:xfrm>
          <a:custGeom>
            <a:avLst/>
            <a:gdLst/>
            <a:ahLst/>
            <a:cxnLst/>
            <a:rect l="l" t="t" r="r" b="b"/>
            <a:pathLst>
              <a:path w="421901" h="394053">
                <a:moveTo>
                  <a:pt x="0" y="0"/>
                </a:moveTo>
                <a:lnTo>
                  <a:pt x="421900" y="0"/>
                </a:lnTo>
                <a:lnTo>
                  <a:pt x="421900" y="394053"/>
                </a:lnTo>
                <a:lnTo>
                  <a:pt x="0" y="3940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066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5" name="TextBox 15"/>
          <p:cNvSpPr txBox="1"/>
          <p:nvPr/>
        </p:nvSpPr>
        <p:spPr>
          <a:xfrm>
            <a:off x="13140396" y="9503747"/>
            <a:ext cx="4772710" cy="42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INFORMATIKA.UNPAM.AC.ID</a:t>
            </a:r>
            <a:endParaRPr lang="en-US" sz="2455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57800" y="2221904"/>
            <a:ext cx="12829232" cy="6863636"/>
            <a:chOff x="0" y="0"/>
            <a:chExt cx="2442638" cy="67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638" cy="677577"/>
            </a:xfrm>
            <a:custGeom>
              <a:avLst/>
              <a:gdLst/>
              <a:ahLst/>
              <a:cxnLst/>
              <a:rect l="l" t="t" r="r" b="b"/>
              <a:pathLst>
                <a:path w="2442638" h="677577">
                  <a:moveTo>
                    <a:pt x="16695" y="0"/>
                  </a:moveTo>
                  <a:lnTo>
                    <a:pt x="2425943" y="0"/>
                  </a:lnTo>
                  <a:cubicBezTo>
                    <a:pt x="2430370" y="0"/>
                    <a:pt x="2434617" y="1759"/>
                    <a:pt x="2437748" y="4890"/>
                  </a:cubicBezTo>
                  <a:cubicBezTo>
                    <a:pt x="2440879" y="8021"/>
                    <a:pt x="2442638" y="12267"/>
                    <a:pt x="2442638" y="16695"/>
                  </a:cubicBezTo>
                  <a:lnTo>
                    <a:pt x="2442638" y="660882"/>
                  </a:lnTo>
                  <a:cubicBezTo>
                    <a:pt x="2442638" y="665309"/>
                    <a:pt x="2440879" y="669556"/>
                    <a:pt x="2437748" y="672687"/>
                  </a:cubicBezTo>
                  <a:cubicBezTo>
                    <a:pt x="2434617" y="675818"/>
                    <a:pt x="2430370" y="677577"/>
                    <a:pt x="2425943" y="677577"/>
                  </a:cubicBezTo>
                  <a:lnTo>
                    <a:pt x="16695" y="677577"/>
                  </a:lnTo>
                  <a:cubicBezTo>
                    <a:pt x="12267" y="677577"/>
                    <a:pt x="8021" y="675818"/>
                    <a:pt x="4890" y="672687"/>
                  </a:cubicBezTo>
                  <a:cubicBezTo>
                    <a:pt x="1759" y="669556"/>
                    <a:pt x="0" y="665309"/>
                    <a:pt x="0" y="660882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F5F5F5">
                <a:alpha val="19608"/>
              </a:srgbClr>
            </a:solidFill>
          </p:spPr>
          <p:txBody>
            <a:bodyPr/>
            <a:lstStyle/>
            <a:p>
              <a:endParaRPr lang="en-ID" sz="3200" dirty="0"/>
            </a:p>
            <a:p>
              <a:endParaRPr lang="en-ID" sz="3200" dirty="0"/>
            </a:p>
            <a:p>
              <a:r>
                <a:rPr lang="en-ID" sz="6000" dirty="0" err="1"/>
                <a:t>Untuk</a:t>
              </a:r>
              <a:r>
                <a:rPr lang="en-ID" sz="6000" dirty="0"/>
                <a:t> </a:t>
              </a:r>
              <a:r>
                <a:rPr lang="en-ID" sz="6000" dirty="0" err="1"/>
                <a:t>materi</a:t>
              </a:r>
              <a:r>
                <a:rPr lang="en-ID" sz="6000" dirty="0"/>
                <a:t> 1 </a:t>
              </a:r>
              <a:r>
                <a:rPr lang="en-ID" sz="6000" dirty="0" err="1"/>
                <a:t>yaitu</a:t>
              </a:r>
              <a:r>
                <a:rPr lang="en-ID" sz="6000" dirty="0"/>
                <a:t> :</a:t>
              </a:r>
              <a:endParaRPr lang="en-ID" sz="6000" dirty="0"/>
            </a:p>
            <a:p>
              <a:r>
                <a:rPr lang="en-ID" sz="6000" dirty="0">
                  <a:solidFill>
                    <a:schemeClr val="bg1"/>
                  </a:solidFill>
                </a:rPr>
                <a:t>insert image </a:t>
              </a:r>
              <a:r>
                <a:rPr lang="en-ID" sz="6000" dirty="0" err="1">
                  <a:solidFill>
                    <a:schemeClr val="bg1"/>
                  </a:solidFill>
                </a:rPr>
                <a:t>melalui</a:t>
              </a:r>
              <a:r>
                <a:rPr lang="en-ID" sz="6000" dirty="0">
                  <a:solidFill>
                    <a:schemeClr val="bg1"/>
                  </a:solidFill>
                </a:rPr>
                <a:t> path pada python </a:t>
              </a:r>
              <a:r>
                <a:rPr lang="en-ID" sz="6000" dirty="0" err="1">
                  <a:solidFill>
                    <a:schemeClr val="bg1"/>
                  </a:solidFill>
                </a:rPr>
                <a:t>maka</a:t>
              </a:r>
              <a:r>
                <a:rPr lang="en-ID" sz="6000" dirty="0">
                  <a:solidFill>
                    <a:schemeClr val="bg1"/>
                  </a:solidFill>
                </a:rPr>
                <a:t> </a:t>
              </a:r>
              <a:r>
                <a:rPr lang="en-ID" sz="6000" dirty="0" err="1">
                  <a:solidFill>
                    <a:schemeClr val="bg1"/>
                  </a:solidFill>
                </a:rPr>
                <a:t>tambahkan</a:t>
              </a:r>
              <a:r>
                <a:rPr lang="en-ID" sz="6000" dirty="0">
                  <a:solidFill>
                    <a:schemeClr val="bg1"/>
                  </a:solidFill>
                </a:rPr>
                <a:t> plugin </a:t>
              </a:r>
              <a:r>
                <a:rPr lang="en-ID" sz="6000" dirty="0" err="1">
                  <a:solidFill>
                    <a:schemeClr val="bg1"/>
                  </a:solidFill>
                </a:rPr>
                <a:t>atau</a:t>
              </a:r>
              <a:r>
                <a:rPr lang="en-ID" sz="6000" dirty="0">
                  <a:solidFill>
                    <a:schemeClr val="bg1"/>
                  </a:solidFill>
                </a:rPr>
                <a:t> library pillow. </a:t>
              </a:r>
              <a:r>
                <a:rPr lang="en-ID" sz="6000" dirty="0" err="1">
                  <a:solidFill>
                    <a:schemeClr val="bg1"/>
                  </a:solidFill>
                </a:rPr>
                <a:t>Kemudian</a:t>
              </a:r>
              <a:r>
                <a:rPr lang="en-ID" sz="6000" dirty="0">
                  <a:solidFill>
                    <a:schemeClr val="bg1"/>
                  </a:solidFill>
                </a:rPr>
                <a:t> buat coding </a:t>
              </a:r>
              <a:r>
                <a:rPr lang="en-ID" sz="6000" dirty="0" err="1">
                  <a:solidFill>
                    <a:schemeClr val="bg1"/>
                  </a:solidFill>
                </a:rPr>
                <a:t>seperti</a:t>
              </a:r>
              <a:r>
                <a:rPr lang="en-ID" sz="6000" dirty="0">
                  <a:solidFill>
                    <a:schemeClr val="bg1"/>
                  </a:solidFill>
                </a:rPr>
                <a:t> pada </a:t>
              </a:r>
              <a:r>
                <a:rPr lang="en-ID" sz="6000" dirty="0" err="1">
                  <a:solidFill>
                    <a:schemeClr val="bg1"/>
                  </a:solidFill>
                </a:rPr>
                <a:t>gambar</a:t>
              </a:r>
              <a:r>
                <a:rPr lang="en-ID" sz="6000" dirty="0">
                  <a:solidFill>
                    <a:schemeClr val="bg1"/>
                  </a:solidFill>
                </a:rPr>
                <a:t>. Path : </a:t>
              </a:r>
              <a:r>
                <a:rPr lang="en-ID" sz="6000" dirty="0" err="1">
                  <a:solidFill>
                    <a:schemeClr val="bg1"/>
                  </a:solidFill>
                </a:rPr>
                <a:t>lokasi</a:t>
              </a:r>
              <a:r>
                <a:rPr lang="en-ID" sz="6000" dirty="0">
                  <a:solidFill>
                    <a:schemeClr val="bg1"/>
                  </a:solidFill>
                </a:rPr>
                <a:t> </a:t>
              </a:r>
              <a:r>
                <a:rPr lang="en-ID" sz="6000" dirty="0" err="1">
                  <a:solidFill>
                    <a:schemeClr val="bg1"/>
                  </a:solidFill>
                </a:rPr>
                <a:t>gambar</a:t>
              </a:r>
              <a:r>
                <a:rPr lang="en-ID" sz="6000" dirty="0">
                  <a:solidFill>
                    <a:schemeClr val="bg1"/>
                  </a:solidFill>
                </a:rPr>
                <a:t> pada </a:t>
              </a:r>
              <a:r>
                <a:rPr lang="en-ID" sz="6000" dirty="0" err="1">
                  <a:solidFill>
                    <a:schemeClr val="bg1"/>
                  </a:solidFill>
                </a:rPr>
                <a:t>perangkat</a:t>
              </a:r>
              <a:r>
                <a:rPr lang="en-ID" sz="3200" dirty="0">
                  <a:solidFill>
                    <a:schemeClr val="bg1"/>
                  </a:solidFill>
                </a:rPr>
                <a:t>.</a:t>
              </a:r>
              <a:endParaRPr lang="en-ID" sz="3200" dirty="0">
                <a:solidFill>
                  <a:schemeClr val="bg1"/>
                </a:solidFill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2638" cy="71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0" y="1730726"/>
            <a:ext cx="5322211" cy="7354814"/>
          </a:xfrm>
          <a:custGeom>
            <a:avLst/>
            <a:gdLst/>
            <a:ahLst/>
            <a:cxnLst/>
            <a:rect l="l" t="t" r="r" b="b"/>
            <a:pathLst>
              <a:path w="5322211" h="7354814">
                <a:moveTo>
                  <a:pt x="0" y="0"/>
                </a:moveTo>
                <a:lnTo>
                  <a:pt x="5322211" y="0"/>
                </a:lnTo>
                <a:lnTo>
                  <a:pt x="5322211" y="7354814"/>
                </a:lnTo>
                <a:lnTo>
                  <a:pt x="0" y="73548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5" name="TextBox 15"/>
          <p:cNvSpPr txBox="1"/>
          <p:nvPr/>
        </p:nvSpPr>
        <p:spPr>
          <a:xfrm>
            <a:off x="4953000" y="739341"/>
            <a:ext cx="1313403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Pengolahan</a:t>
            </a:r>
            <a:r>
              <a:rPr lang="es-E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Citra Digital </a:t>
            </a:r>
            <a:r>
              <a:rPr lang="es-ES" sz="6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s-E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373020" y="9520630"/>
            <a:ext cx="446739" cy="446739"/>
          </a:xfrm>
          <a:custGeom>
            <a:avLst/>
            <a:gdLst/>
            <a:ahLst/>
            <a:cxnLst/>
            <a:rect l="l" t="t" r="r" b="b"/>
            <a:pathLst>
              <a:path w="446739" h="446739">
                <a:moveTo>
                  <a:pt x="0" y="0"/>
                </a:moveTo>
                <a:lnTo>
                  <a:pt x="446738" y="0"/>
                </a:lnTo>
                <a:lnTo>
                  <a:pt x="446738" y="446739"/>
                </a:lnTo>
                <a:lnTo>
                  <a:pt x="0" y="446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1" name="TextBox 21"/>
          <p:cNvSpPr txBox="1"/>
          <p:nvPr/>
        </p:nvSpPr>
        <p:spPr>
          <a:xfrm>
            <a:off x="916671" y="9503747"/>
            <a:ext cx="2448371" cy="42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INFOTI_UNPAM</a:t>
            </a:r>
            <a:endParaRPr lang="en-US" sz="2455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2675676" y="9256007"/>
            <a:ext cx="425407" cy="394053"/>
          </a:xfrm>
          <a:custGeom>
            <a:avLst/>
            <a:gdLst/>
            <a:ahLst/>
            <a:cxnLst/>
            <a:rect l="l" t="t" r="r" b="b"/>
            <a:pathLst>
              <a:path w="421901" h="394053">
                <a:moveTo>
                  <a:pt x="0" y="0"/>
                </a:moveTo>
                <a:lnTo>
                  <a:pt x="421900" y="0"/>
                </a:lnTo>
                <a:lnTo>
                  <a:pt x="421900" y="394053"/>
                </a:lnTo>
                <a:lnTo>
                  <a:pt x="0" y="39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066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3" name="TextBox 23"/>
          <p:cNvSpPr txBox="1"/>
          <p:nvPr/>
        </p:nvSpPr>
        <p:spPr>
          <a:xfrm>
            <a:off x="13101083" y="9256007"/>
            <a:ext cx="4812368" cy="42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INFORMATIKA.UNPAM.AC.ID</a:t>
            </a:r>
            <a:endParaRPr lang="en-US" sz="2455" dirty="0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grpSp>
        <p:nvGrpSpPr>
          <p:cNvPr id="13" name="Group 5"/>
          <p:cNvGrpSpPr/>
          <p:nvPr/>
        </p:nvGrpSpPr>
        <p:grpSpPr>
          <a:xfrm rot="386168">
            <a:off x="5407275" y="2280695"/>
            <a:ext cx="1098789" cy="1816343"/>
            <a:chOff x="0" y="-369048"/>
            <a:chExt cx="351164" cy="713417"/>
          </a:xfrm>
        </p:grpSpPr>
        <p:sp>
          <p:nvSpPr>
            <p:cNvPr id="18" name="Freeform 6"/>
            <p:cNvSpPr/>
            <p:nvPr/>
          </p:nvSpPr>
          <p:spPr>
            <a:xfrm rot="21309291">
              <a:off x="0" y="-369048"/>
              <a:ext cx="351164" cy="344369"/>
            </a:xfrm>
            <a:custGeom>
              <a:avLst/>
              <a:gdLst/>
              <a:ahLst/>
              <a:cxnLst/>
              <a:rect l="l" t="t" r="r" b="b"/>
              <a:pathLst>
                <a:path w="351164" h="344369">
                  <a:moveTo>
                    <a:pt x="135527" y="0"/>
                  </a:moveTo>
                  <a:lnTo>
                    <a:pt x="215637" y="0"/>
                  </a:lnTo>
                  <a:cubicBezTo>
                    <a:pt x="251581" y="0"/>
                    <a:pt x="286053" y="14279"/>
                    <a:pt x="311469" y="39695"/>
                  </a:cubicBezTo>
                  <a:cubicBezTo>
                    <a:pt x="336886" y="65111"/>
                    <a:pt x="351164" y="99583"/>
                    <a:pt x="351164" y="135527"/>
                  </a:cubicBezTo>
                  <a:lnTo>
                    <a:pt x="351164" y="208842"/>
                  </a:lnTo>
                  <a:cubicBezTo>
                    <a:pt x="351164" y="244786"/>
                    <a:pt x="336886" y="279258"/>
                    <a:pt x="311469" y="304674"/>
                  </a:cubicBezTo>
                  <a:cubicBezTo>
                    <a:pt x="286053" y="330091"/>
                    <a:pt x="251581" y="344369"/>
                    <a:pt x="215637" y="344369"/>
                  </a:cubicBezTo>
                  <a:lnTo>
                    <a:pt x="135527" y="344369"/>
                  </a:lnTo>
                  <a:cubicBezTo>
                    <a:pt x="99583" y="344369"/>
                    <a:pt x="65111" y="330091"/>
                    <a:pt x="39695" y="304674"/>
                  </a:cubicBezTo>
                  <a:cubicBezTo>
                    <a:pt x="14279" y="279258"/>
                    <a:pt x="0" y="244786"/>
                    <a:pt x="0" y="208842"/>
                  </a:cubicBezTo>
                  <a:lnTo>
                    <a:pt x="0" y="135527"/>
                  </a:lnTo>
                  <a:cubicBezTo>
                    <a:pt x="0" y="99583"/>
                    <a:pt x="14279" y="65111"/>
                    <a:pt x="39695" y="39695"/>
                  </a:cubicBezTo>
                  <a:cubicBezTo>
                    <a:pt x="65111" y="14279"/>
                    <a:pt x="99583" y="0"/>
                    <a:pt x="135527" y="0"/>
                  </a:cubicBezTo>
                  <a:close/>
                </a:path>
              </a:pathLst>
            </a:custGeom>
            <a:solidFill>
              <a:srgbClr val="E1B92E"/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19" name="TextBox 7"/>
            <p:cNvSpPr txBox="1"/>
            <p:nvPr/>
          </p:nvSpPr>
          <p:spPr>
            <a:xfrm>
              <a:off x="0" y="-38100"/>
              <a:ext cx="351164" cy="382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88149" y="740423"/>
            <a:ext cx="12671252" cy="8403410"/>
            <a:chOff x="0" y="0"/>
            <a:chExt cx="2442638" cy="67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638" cy="677577"/>
            </a:xfrm>
            <a:custGeom>
              <a:avLst/>
              <a:gdLst/>
              <a:ahLst/>
              <a:cxnLst/>
              <a:rect l="l" t="t" r="r" b="b"/>
              <a:pathLst>
                <a:path w="2442638" h="677577">
                  <a:moveTo>
                    <a:pt x="16695" y="0"/>
                  </a:moveTo>
                  <a:lnTo>
                    <a:pt x="2425943" y="0"/>
                  </a:lnTo>
                  <a:cubicBezTo>
                    <a:pt x="2430370" y="0"/>
                    <a:pt x="2434617" y="1759"/>
                    <a:pt x="2437748" y="4890"/>
                  </a:cubicBezTo>
                  <a:cubicBezTo>
                    <a:pt x="2440879" y="8021"/>
                    <a:pt x="2442638" y="12267"/>
                    <a:pt x="2442638" y="16695"/>
                  </a:cubicBezTo>
                  <a:lnTo>
                    <a:pt x="2442638" y="660882"/>
                  </a:lnTo>
                  <a:cubicBezTo>
                    <a:pt x="2442638" y="665309"/>
                    <a:pt x="2440879" y="669556"/>
                    <a:pt x="2437748" y="672687"/>
                  </a:cubicBezTo>
                  <a:cubicBezTo>
                    <a:pt x="2434617" y="675818"/>
                    <a:pt x="2430370" y="677577"/>
                    <a:pt x="2425943" y="677577"/>
                  </a:cubicBezTo>
                  <a:lnTo>
                    <a:pt x="16695" y="677577"/>
                  </a:lnTo>
                  <a:cubicBezTo>
                    <a:pt x="12267" y="677577"/>
                    <a:pt x="8021" y="675818"/>
                    <a:pt x="4890" y="672687"/>
                  </a:cubicBezTo>
                  <a:cubicBezTo>
                    <a:pt x="1759" y="669556"/>
                    <a:pt x="0" y="665309"/>
                    <a:pt x="0" y="660882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F5F5F5">
                <a:alpha val="19608"/>
              </a:srgbClr>
            </a:solidFill>
          </p:spPr>
          <p:txBody>
            <a:bodyPr/>
            <a:lstStyle/>
            <a:p>
              <a:r>
                <a:rPr lang="en-ID" sz="48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insert </a:t>
              </a:r>
              <a:r>
                <a:rPr lang="en-ID" sz="4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</a:t>
              </a:r>
              <a:endParaRPr lang="en-ID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2638" cy="71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65938" y="1575828"/>
            <a:ext cx="5322211" cy="7354814"/>
          </a:xfrm>
          <a:custGeom>
            <a:avLst/>
            <a:gdLst/>
            <a:ahLst/>
            <a:cxnLst/>
            <a:rect l="l" t="t" r="r" b="b"/>
            <a:pathLst>
              <a:path w="5322211" h="7354814">
                <a:moveTo>
                  <a:pt x="0" y="0"/>
                </a:moveTo>
                <a:lnTo>
                  <a:pt x="5322211" y="0"/>
                </a:lnTo>
                <a:lnTo>
                  <a:pt x="5322211" y="7354814"/>
                </a:lnTo>
                <a:lnTo>
                  <a:pt x="0" y="73548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20" name="Freeform 20"/>
          <p:cNvSpPr/>
          <p:nvPr/>
        </p:nvSpPr>
        <p:spPr>
          <a:xfrm>
            <a:off x="373020" y="9520630"/>
            <a:ext cx="446739" cy="446739"/>
          </a:xfrm>
          <a:custGeom>
            <a:avLst/>
            <a:gdLst/>
            <a:ahLst/>
            <a:cxnLst/>
            <a:rect l="l" t="t" r="r" b="b"/>
            <a:pathLst>
              <a:path w="446739" h="446739">
                <a:moveTo>
                  <a:pt x="0" y="0"/>
                </a:moveTo>
                <a:lnTo>
                  <a:pt x="446738" y="0"/>
                </a:lnTo>
                <a:lnTo>
                  <a:pt x="446738" y="446739"/>
                </a:lnTo>
                <a:lnTo>
                  <a:pt x="0" y="446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1" name="TextBox 21"/>
          <p:cNvSpPr txBox="1"/>
          <p:nvPr/>
        </p:nvSpPr>
        <p:spPr>
          <a:xfrm>
            <a:off x="916671" y="9503747"/>
            <a:ext cx="2448371" cy="42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INFOTI_UNPAM</a:t>
            </a:r>
            <a:endParaRPr lang="en-US" sz="2455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2668648" y="9148179"/>
            <a:ext cx="425407" cy="394053"/>
          </a:xfrm>
          <a:custGeom>
            <a:avLst/>
            <a:gdLst/>
            <a:ahLst/>
            <a:cxnLst/>
            <a:rect l="l" t="t" r="r" b="b"/>
            <a:pathLst>
              <a:path w="421901" h="394053">
                <a:moveTo>
                  <a:pt x="0" y="0"/>
                </a:moveTo>
                <a:lnTo>
                  <a:pt x="421900" y="0"/>
                </a:lnTo>
                <a:lnTo>
                  <a:pt x="421900" y="394053"/>
                </a:lnTo>
                <a:lnTo>
                  <a:pt x="0" y="39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066"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23" name="TextBox 23"/>
          <p:cNvSpPr txBox="1"/>
          <p:nvPr/>
        </p:nvSpPr>
        <p:spPr>
          <a:xfrm>
            <a:off x="13060188" y="9123222"/>
            <a:ext cx="4812368" cy="42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INFORMATIKA.UNPAM.AC.ID</a:t>
            </a:r>
            <a:endParaRPr lang="en-US" sz="2455" dirty="0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6" name="Google Shape;335;p40"/>
          <p:cNvSpPr txBox="1"/>
          <p:nvPr/>
        </p:nvSpPr>
        <p:spPr>
          <a:xfrm>
            <a:off x="5388149" y="1790700"/>
            <a:ext cx="12137852" cy="732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Calibri" panose="020F0502020204030204"/>
              <a:buNone/>
            </a:pPr>
            <a:br>
              <a:rPr lang="en-US" sz="3600" dirty="0">
                <a:solidFill>
                  <a:schemeClr val="bg1"/>
                </a:solidFill>
              </a:rPr>
            </a:b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8149" y="1896208"/>
            <a:ext cx="12787432" cy="72226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90176" y="1943100"/>
            <a:ext cx="11769224" cy="7086600"/>
            <a:chOff x="0" y="0"/>
            <a:chExt cx="2442638" cy="67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638" cy="677577"/>
            </a:xfrm>
            <a:custGeom>
              <a:avLst/>
              <a:gdLst/>
              <a:ahLst/>
              <a:cxnLst/>
              <a:rect l="l" t="t" r="r" b="b"/>
              <a:pathLst>
                <a:path w="2442638" h="677577">
                  <a:moveTo>
                    <a:pt x="16695" y="0"/>
                  </a:moveTo>
                  <a:lnTo>
                    <a:pt x="2425943" y="0"/>
                  </a:lnTo>
                  <a:cubicBezTo>
                    <a:pt x="2430370" y="0"/>
                    <a:pt x="2434617" y="1759"/>
                    <a:pt x="2437748" y="4890"/>
                  </a:cubicBezTo>
                  <a:cubicBezTo>
                    <a:pt x="2440879" y="8021"/>
                    <a:pt x="2442638" y="12267"/>
                    <a:pt x="2442638" y="16695"/>
                  </a:cubicBezTo>
                  <a:lnTo>
                    <a:pt x="2442638" y="660882"/>
                  </a:lnTo>
                  <a:cubicBezTo>
                    <a:pt x="2442638" y="665309"/>
                    <a:pt x="2440879" y="669556"/>
                    <a:pt x="2437748" y="672687"/>
                  </a:cubicBezTo>
                  <a:cubicBezTo>
                    <a:pt x="2434617" y="675818"/>
                    <a:pt x="2430370" y="677577"/>
                    <a:pt x="2425943" y="677577"/>
                  </a:cubicBezTo>
                  <a:lnTo>
                    <a:pt x="16695" y="677577"/>
                  </a:lnTo>
                  <a:cubicBezTo>
                    <a:pt x="12267" y="677577"/>
                    <a:pt x="8021" y="675818"/>
                    <a:pt x="4890" y="672687"/>
                  </a:cubicBezTo>
                  <a:cubicBezTo>
                    <a:pt x="1759" y="669556"/>
                    <a:pt x="0" y="665309"/>
                    <a:pt x="0" y="660882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F5F5F5">
                <a:alpha val="19608"/>
              </a:srgbClr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2638" cy="71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967965" y="1674886"/>
            <a:ext cx="5322211" cy="7354814"/>
          </a:xfrm>
          <a:custGeom>
            <a:avLst/>
            <a:gdLst/>
            <a:ahLst/>
            <a:cxnLst/>
            <a:rect l="l" t="t" r="r" b="b"/>
            <a:pathLst>
              <a:path w="5322211" h="7354814">
                <a:moveTo>
                  <a:pt x="0" y="0"/>
                </a:moveTo>
                <a:lnTo>
                  <a:pt x="5322211" y="0"/>
                </a:lnTo>
                <a:lnTo>
                  <a:pt x="5322211" y="7354814"/>
                </a:lnTo>
                <a:lnTo>
                  <a:pt x="0" y="73548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5" name="TextBox 15"/>
          <p:cNvSpPr txBox="1"/>
          <p:nvPr/>
        </p:nvSpPr>
        <p:spPr>
          <a:xfrm>
            <a:off x="6156913" y="863440"/>
            <a:ext cx="12035749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bg1"/>
                </a:solidFill>
              </a:rPr>
              <a:t>Hasil </a:t>
            </a:r>
            <a:r>
              <a:rPr lang="en-US" sz="5400" b="1" dirty="0" err="1">
                <a:solidFill>
                  <a:schemeClr val="bg1"/>
                </a:solidFill>
              </a:rPr>
              <a:t>Setelah</a:t>
            </a:r>
            <a:r>
              <a:rPr lang="en-US" sz="5400" b="1" dirty="0">
                <a:solidFill>
                  <a:schemeClr val="bg1"/>
                </a:solidFill>
              </a:rPr>
              <a:t> Di Run:</a:t>
            </a:r>
            <a:endParaRPr lang="en-ID" sz="5400" dirty="0">
              <a:solidFill>
                <a:schemeClr val="bg1"/>
              </a:solidFill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373020" y="9520630"/>
            <a:ext cx="446739" cy="446739"/>
          </a:xfrm>
          <a:custGeom>
            <a:avLst/>
            <a:gdLst/>
            <a:ahLst/>
            <a:cxnLst/>
            <a:rect l="l" t="t" r="r" b="b"/>
            <a:pathLst>
              <a:path w="446739" h="446739">
                <a:moveTo>
                  <a:pt x="0" y="0"/>
                </a:moveTo>
                <a:lnTo>
                  <a:pt x="446738" y="0"/>
                </a:lnTo>
                <a:lnTo>
                  <a:pt x="446738" y="446739"/>
                </a:lnTo>
                <a:lnTo>
                  <a:pt x="0" y="446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1" name="TextBox 21"/>
          <p:cNvSpPr txBox="1"/>
          <p:nvPr/>
        </p:nvSpPr>
        <p:spPr>
          <a:xfrm>
            <a:off x="916671" y="9503747"/>
            <a:ext cx="2448371" cy="42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INFOTI_UNPAM</a:t>
            </a:r>
            <a:endParaRPr lang="en-US" sz="2455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2720181" y="9272951"/>
            <a:ext cx="425407" cy="394053"/>
          </a:xfrm>
          <a:custGeom>
            <a:avLst/>
            <a:gdLst/>
            <a:ahLst/>
            <a:cxnLst/>
            <a:rect l="l" t="t" r="r" b="b"/>
            <a:pathLst>
              <a:path w="421901" h="394053">
                <a:moveTo>
                  <a:pt x="0" y="0"/>
                </a:moveTo>
                <a:lnTo>
                  <a:pt x="421900" y="0"/>
                </a:lnTo>
                <a:lnTo>
                  <a:pt x="421900" y="394053"/>
                </a:lnTo>
                <a:lnTo>
                  <a:pt x="0" y="39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066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3" name="TextBox 23"/>
          <p:cNvSpPr txBox="1"/>
          <p:nvPr/>
        </p:nvSpPr>
        <p:spPr>
          <a:xfrm>
            <a:off x="13102612" y="9258299"/>
            <a:ext cx="4812368" cy="42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INFORMATIKA.UNPAM.AC.ID</a:t>
            </a:r>
            <a:endParaRPr lang="en-US" sz="2455" dirty="0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7" name="Google Shape;341;p41"/>
          <p:cNvSpPr/>
          <p:nvPr/>
        </p:nvSpPr>
        <p:spPr>
          <a:xfrm>
            <a:off x="5879124" y="2073364"/>
            <a:ext cx="12408876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AutoNum type="arabicPeriod"/>
            </a:pPr>
            <a:endParaRPr sz="28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943100"/>
            <a:ext cx="11658600" cy="70996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00800" y="2284486"/>
            <a:ext cx="12056985" cy="6897614"/>
            <a:chOff x="0" y="0"/>
            <a:chExt cx="2442638" cy="67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638" cy="677577"/>
            </a:xfrm>
            <a:custGeom>
              <a:avLst/>
              <a:gdLst/>
              <a:ahLst/>
              <a:cxnLst/>
              <a:rect l="l" t="t" r="r" b="b"/>
              <a:pathLst>
                <a:path w="2442638" h="677577">
                  <a:moveTo>
                    <a:pt x="16695" y="0"/>
                  </a:moveTo>
                  <a:lnTo>
                    <a:pt x="2425943" y="0"/>
                  </a:lnTo>
                  <a:cubicBezTo>
                    <a:pt x="2430370" y="0"/>
                    <a:pt x="2434617" y="1759"/>
                    <a:pt x="2437748" y="4890"/>
                  </a:cubicBezTo>
                  <a:cubicBezTo>
                    <a:pt x="2440879" y="8021"/>
                    <a:pt x="2442638" y="12267"/>
                    <a:pt x="2442638" y="16695"/>
                  </a:cubicBezTo>
                  <a:lnTo>
                    <a:pt x="2442638" y="660882"/>
                  </a:lnTo>
                  <a:cubicBezTo>
                    <a:pt x="2442638" y="665309"/>
                    <a:pt x="2440879" y="669556"/>
                    <a:pt x="2437748" y="672687"/>
                  </a:cubicBezTo>
                  <a:cubicBezTo>
                    <a:pt x="2434617" y="675818"/>
                    <a:pt x="2430370" y="677577"/>
                    <a:pt x="2425943" y="677577"/>
                  </a:cubicBezTo>
                  <a:lnTo>
                    <a:pt x="16695" y="677577"/>
                  </a:lnTo>
                  <a:cubicBezTo>
                    <a:pt x="12267" y="677577"/>
                    <a:pt x="8021" y="675818"/>
                    <a:pt x="4890" y="672687"/>
                  </a:cubicBezTo>
                  <a:cubicBezTo>
                    <a:pt x="1759" y="669556"/>
                    <a:pt x="0" y="665309"/>
                    <a:pt x="0" y="660882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F5F5F5">
                <a:alpha val="19608"/>
              </a:srgbClr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2638" cy="71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401647" y="1903486"/>
            <a:ext cx="5322211" cy="7354814"/>
          </a:xfrm>
          <a:custGeom>
            <a:avLst/>
            <a:gdLst/>
            <a:ahLst/>
            <a:cxnLst/>
            <a:rect l="l" t="t" r="r" b="b"/>
            <a:pathLst>
              <a:path w="5322211" h="7354814">
                <a:moveTo>
                  <a:pt x="0" y="0"/>
                </a:moveTo>
                <a:lnTo>
                  <a:pt x="5322211" y="0"/>
                </a:lnTo>
                <a:lnTo>
                  <a:pt x="5322211" y="7354814"/>
                </a:lnTo>
                <a:lnTo>
                  <a:pt x="0" y="73548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5" name="TextBox 15"/>
          <p:cNvSpPr txBox="1"/>
          <p:nvPr/>
        </p:nvSpPr>
        <p:spPr>
          <a:xfrm>
            <a:off x="6870457" y="795635"/>
            <a:ext cx="9924045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Kesimpulan </a:t>
            </a:r>
            <a:r>
              <a:rPr lang="en-US" sz="6600" dirty="0" err="1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Materi</a:t>
            </a:r>
            <a:r>
              <a:rPr lang="en-US" sz="6600" dirty="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373020" y="9520630"/>
            <a:ext cx="446739" cy="446739"/>
          </a:xfrm>
          <a:custGeom>
            <a:avLst/>
            <a:gdLst/>
            <a:ahLst/>
            <a:cxnLst/>
            <a:rect l="l" t="t" r="r" b="b"/>
            <a:pathLst>
              <a:path w="446739" h="446739">
                <a:moveTo>
                  <a:pt x="0" y="0"/>
                </a:moveTo>
                <a:lnTo>
                  <a:pt x="446738" y="0"/>
                </a:lnTo>
                <a:lnTo>
                  <a:pt x="446738" y="446739"/>
                </a:lnTo>
                <a:lnTo>
                  <a:pt x="0" y="446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1" name="TextBox 21"/>
          <p:cNvSpPr txBox="1"/>
          <p:nvPr/>
        </p:nvSpPr>
        <p:spPr>
          <a:xfrm>
            <a:off x="916671" y="9503747"/>
            <a:ext cx="2448371" cy="42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INFOTI_UNPAM</a:t>
            </a:r>
            <a:endParaRPr lang="en-US" sz="2455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2696735" y="9217605"/>
            <a:ext cx="425407" cy="394053"/>
          </a:xfrm>
          <a:custGeom>
            <a:avLst/>
            <a:gdLst/>
            <a:ahLst/>
            <a:cxnLst/>
            <a:rect l="l" t="t" r="r" b="b"/>
            <a:pathLst>
              <a:path w="421901" h="394053">
                <a:moveTo>
                  <a:pt x="0" y="0"/>
                </a:moveTo>
                <a:lnTo>
                  <a:pt x="421900" y="0"/>
                </a:lnTo>
                <a:lnTo>
                  <a:pt x="421900" y="394053"/>
                </a:lnTo>
                <a:lnTo>
                  <a:pt x="0" y="39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066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3" name="TextBox 23"/>
          <p:cNvSpPr txBox="1"/>
          <p:nvPr/>
        </p:nvSpPr>
        <p:spPr>
          <a:xfrm>
            <a:off x="13122142" y="9202953"/>
            <a:ext cx="4812368" cy="42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INFORMATIKA.UNPAM.AC.ID</a:t>
            </a:r>
            <a:endParaRPr lang="en-US" sz="2455" dirty="0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723856" y="2580071"/>
            <a:ext cx="1119502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Pada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materi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pertama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dijelaskan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bagaimana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cara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menampilkan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citra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gambar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menggunakan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bahasa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pemrograman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dengan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bantuan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library Pillow (PIL)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Langkah-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langkahnya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meliputi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Mengimpor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modul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tkinter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dan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PIL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untuk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membuat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GUI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serta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membuka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gambar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Menentukan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path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gambar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lokasi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file di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perangkat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Menggunakan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fungsi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Image.open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untuk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membuka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gambar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dan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ImageTk.PhotoImage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untuk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menampilkannya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di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jendela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aplikasi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Hasilnya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program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dapat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menampilkan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citra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digital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dari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lokasi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penyimpanan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melalui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antarmuka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Python.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57800" y="1730726"/>
            <a:ext cx="12829232" cy="7354814"/>
            <a:chOff x="0" y="0"/>
            <a:chExt cx="2442638" cy="67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638" cy="677577"/>
            </a:xfrm>
            <a:custGeom>
              <a:avLst/>
              <a:gdLst/>
              <a:ahLst/>
              <a:cxnLst/>
              <a:rect l="l" t="t" r="r" b="b"/>
              <a:pathLst>
                <a:path w="2442638" h="677577">
                  <a:moveTo>
                    <a:pt x="16695" y="0"/>
                  </a:moveTo>
                  <a:lnTo>
                    <a:pt x="2425943" y="0"/>
                  </a:lnTo>
                  <a:cubicBezTo>
                    <a:pt x="2430370" y="0"/>
                    <a:pt x="2434617" y="1759"/>
                    <a:pt x="2437748" y="4890"/>
                  </a:cubicBezTo>
                  <a:cubicBezTo>
                    <a:pt x="2440879" y="8021"/>
                    <a:pt x="2442638" y="12267"/>
                    <a:pt x="2442638" y="16695"/>
                  </a:cubicBezTo>
                  <a:lnTo>
                    <a:pt x="2442638" y="660882"/>
                  </a:lnTo>
                  <a:cubicBezTo>
                    <a:pt x="2442638" y="665309"/>
                    <a:pt x="2440879" y="669556"/>
                    <a:pt x="2437748" y="672687"/>
                  </a:cubicBezTo>
                  <a:cubicBezTo>
                    <a:pt x="2434617" y="675818"/>
                    <a:pt x="2430370" y="677577"/>
                    <a:pt x="2425943" y="677577"/>
                  </a:cubicBezTo>
                  <a:lnTo>
                    <a:pt x="16695" y="677577"/>
                  </a:lnTo>
                  <a:cubicBezTo>
                    <a:pt x="12267" y="677577"/>
                    <a:pt x="8021" y="675818"/>
                    <a:pt x="4890" y="672687"/>
                  </a:cubicBezTo>
                  <a:cubicBezTo>
                    <a:pt x="1759" y="669556"/>
                    <a:pt x="0" y="665309"/>
                    <a:pt x="0" y="660882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F5F5F5">
                <a:alpha val="19608"/>
              </a:srgbClr>
            </a:solidFill>
          </p:spPr>
          <p:txBody>
            <a:bodyPr/>
            <a:lstStyle/>
            <a:p>
              <a:endParaRPr lang="en-ID" sz="2000" dirty="0"/>
            </a:p>
            <a:p>
              <a:endParaRPr lang="en-ID" sz="2000" dirty="0"/>
            </a:p>
            <a:p>
              <a:r>
                <a:rPr lang="en-ID" sz="4000" dirty="0" err="1">
                  <a:solidFill>
                    <a:schemeClr val="bg1"/>
                  </a:solidFill>
                </a:rPr>
                <a:t>Untuk</a:t>
              </a:r>
              <a:r>
                <a:rPr lang="en-ID" sz="4000" dirty="0">
                  <a:solidFill>
                    <a:schemeClr val="bg1"/>
                  </a:solidFill>
                </a:rPr>
                <a:t> </a:t>
              </a:r>
              <a:r>
                <a:rPr lang="en-ID" sz="4000" dirty="0" err="1">
                  <a:solidFill>
                    <a:schemeClr val="bg1"/>
                  </a:solidFill>
                </a:rPr>
                <a:t>materi</a:t>
              </a:r>
              <a:r>
                <a:rPr lang="en-ID" sz="4000" dirty="0">
                  <a:solidFill>
                    <a:schemeClr val="bg1"/>
                  </a:solidFill>
                </a:rPr>
                <a:t> 2 </a:t>
              </a:r>
              <a:r>
                <a:rPr lang="en-ID" sz="4000" dirty="0" err="1">
                  <a:solidFill>
                    <a:schemeClr val="bg1"/>
                  </a:solidFill>
                </a:rPr>
                <a:t>yaitu</a:t>
              </a:r>
              <a:r>
                <a:rPr lang="en-ID" sz="4000" dirty="0">
                  <a:solidFill>
                    <a:schemeClr val="bg1"/>
                  </a:solidFill>
                </a:rPr>
                <a:t> </a:t>
              </a:r>
              <a:r>
                <a:rPr lang="en-ID" sz="4000" dirty="0"/>
                <a:t>:</a:t>
              </a:r>
              <a:endParaRPr lang="en-ID" sz="4000" dirty="0"/>
            </a:p>
            <a:p>
              <a:r>
                <a:rPr lang="en-ID" sz="4400" dirty="0"/>
                <a:t>(Gaussian Blur) Blur </a:t>
              </a:r>
              <a:r>
                <a:rPr lang="en-ID" sz="4400" dirty="0" err="1"/>
                <a:t>adalah</a:t>
              </a:r>
              <a:r>
                <a:rPr lang="en-ID" sz="4400" dirty="0"/>
                <a:t> </a:t>
              </a:r>
              <a:r>
                <a:rPr lang="en-ID" sz="4400" dirty="0" err="1"/>
                <a:t>sebuah</a:t>
              </a:r>
              <a:r>
                <a:rPr lang="en-ID" sz="4400" dirty="0"/>
                <a:t> </a:t>
              </a:r>
              <a:r>
                <a:rPr lang="en-ID" sz="4400" dirty="0" err="1"/>
                <a:t>istilah</a:t>
              </a:r>
              <a:r>
                <a:rPr lang="en-ID" sz="4400" dirty="0"/>
                <a:t> </a:t>
              </a:r>
              <a:r>
                <a:rPr lang="en-ID" sz="4400" dirty="0" err="1"/>
                <a:t>untuk</a:t>
              </a:r>
              <a:r>
                <a:rPr lang="en-ID" sz="4400" dirty="0"/>
                <a:t> </a:t>
              </a:r>
              <a:r>
                <a:rPr lang="en-ID" sz="4400" dirty="0" err="1"/>
                <a:t>memudarkan</a:t>
              </a:r>
              <a:r>
                <a:rPr lang="en-ID" sz="4400" dirty="0"/>
                <a:t> </a:t>
              </a:r>
              <a:r>
                <a:rPr lang="en-ID" sz="4400" dirty="0" err="1"/>
                <a:t>gambar</a:t>
              </a:r>
              <a:r>
                <a:rPr lang="en-ID" sz="4400" dirty="0"/>
                <a:t> </a:t>
              </a:r>
              <a:r>
                <a:rPr lang="en-ID" sz="4400" dirty="0" err="1"/>
                <a:t>sehingga</a:t>
              </a:r>
              <a:r>
                <a:rPr lang="en-ID" sz="4400" dirty="0"/>
                <a:t> </a:t>
              </a:r>
              <a:r>
                <a:rPr lang="en-ID" sz="4400" dirty="0" err="1"/>
                <a:t>sebuah</a:t>
              </a:r>
              <a:r>
                <a:rPr lang="en-ID" sz="4400" dirty="0"/>
                <a:t> </a:t>
              </a:r>
              <a:r>
                <a:rPr lang="en-ID" sz="4400" dirty="0" err="1"/>
                <a:t>gambar</a:t>
              </a:r>
              <a:r>
                <a:rPr lang="en-ID" sz="4400" dirty="0"/>
                <a:t> yang </a:t>
              </a:r>
              <a:r>
                <a:rPr lang="en-ID" sz="4400" dirty="0" err="1"/>
                <a:t>asalnya</a:t>
              </a:r>
              <a:r>
                <a:rPr lang="en-ID" sz="4400" dirty="0"/>
                <a:t> </a:t>
              </a:r>
              <a:r>
                <a:rPr lang="en-ID" sz="4400" dirty="0" err="1"/>
                <a:t>jelas</a:t>
              </a:r>
              <a:r>
                <a:rPr lang="en-ID" sz="4400" dirty="0"/>
                <a:t> </a:t>
              </a:r>
              <a:r>
                <a:rPr lang="en-ID" sz="4400" dirty="0" err="1"/>
                <a:t>bisa</a:t>
              </a:r>
              <a:r>
                <a:rPr lang="en-ID" sz="4400" dirty="0"/>
                <a:t> </a:t>
              </a:r>
              <a:r>
                <a:rPr lang="en-ID" sz="4400" dirty="0" err="1"/>
                <a:t>menjadi</a:t>
              </a:r>
              <a:r>
                <a:rPr lang="en-ID" sz="4400" dirty="0"/>
                <a:t> </a:t>
              </a:r>
              <a:r>
                <a:rPr lang="en-ID" sz="4400" dirty="0" err="1"/>
                <a:t>tidak</a:t>
              </a:r>
              <a:r>
                <a:rPr lang="en-ID" sz="4400" dirty="0"/>
                <a:t> </a:t>
              </a:r>
              <a:r>
                <a:rPr lang="en-ID" sz="4400" dirty="0" err="1"/>
                <a:t>jelas</a:t>
              </a:r>
              <a:r>
                <a:rPr lang="en-ID" sz="4400" dirty="0"/>
                <a:t>. Gaussian blur </a:t>
              </a:r>
              <a:r>
                <a:rPr lang="en-ID" sz="4400" dirty="0" err="1"/>
                <a:t>merupakan</a:t>
              </a:r>
              <a:r>
                <a:rPr lang="en-ID" sz="4400" dirty="0"/>
                <a:t> </a:t>
              </a:r>
              <a:r>
                <a:rPr lang="en-ID" sz="4400" dirty="0" err="1"/>
                <a:t>hasil</a:t>
              </a:r>
              <a:r>
                <a:rPr lang="en-ID" sz="4400" dirty="0"/>
                <a:t> </a:t>
              </a:r>
              <a:r>
                <a:rPr lang="en-ID" sz="4400" dirty="0" err="1"/>
                <a:t>dari</a:t>
              </a:r>
              <a:r>
                <a:rPr lang="en-ID" sz="4400" dirty="0"/>
                <a:t> blurring </a:t>
              </a:r>
              <a:r>
                <a:rPr lang="en-ID" sz="4400" dirty="0" err="1"/>
                <a:t>sebuah</a:t>
              </a:r>
              <a:r>
                <a:rPr lang="en-ID" sz="4400" dirty="0"/>
                <a:t> </a:t>
              </a:r>
              <a:r>
                <a:rPr lang="en-ID" sz="4400" dirty="0" err="1"/>
                <a:t>gambar</a:t>
              </a:r>
              <a:r>
                <a:rPr lang="en-ID" sz="4400" dirty="0"/>
                <a:t> </a:t>
              </a:r>
              <a:r>
                <a:rPr lang="en-ID" sz="4400" dirty="0" err="1"/>
                <a:t>menggunakan</a:t>
              </a:r>
              <a:r>
                <a:rPr lang="en-ID" sz="4400" dirty="0"/>
                <a:t> </a:t>
              </a:r>
              <a:r>
                <a:rPr lang="en-ID" sz="4400" dirty="0" err="1"/>
                <a:t>Fungsi</a:t>
              </a:r>
              <a:r>
                <a:rPr lang="en-ID" sz="4400" dirty="0"/>
                <a:t> Gaussian. </a:t>
              </a:r>
              <a:r>
                <a:rPr lang="en-ID" sz="4400" dirty="0" err="1"/>
                <a:t>biasanya</a:t>
              </a:r>
              <a:r>
                <a:rPr lang="en-ID" sz="4400" dirty="0"/>
                <a:t> </a:t>
              </a:r>
              <a:r>
                <a:rPr lang="en-ID" sz="4400" dirty="0" err="1"/>
                <a:t>fungsi</a:t>
              </a:r>
              <a:r>
                <a:rPr lang="en-ID" sz="4400" dirty="0"/>
                <a:t> </a:t>
              </a:r>
              <a:r>
                <a:rPr lang="en-ID" sz="4400" dirty="0" err="1"/>
                <a:t>ini</a:t>
              </a:r>
              <a:r>
                <a:rPr lang="en-ID" sz="4400" dirty="0"/>
                <a:t> </a:t>
              </a:r>
              <a:r>
                <a:rPr lang="en-ID" sz="4400" dirty="0" err="1"/>
                <a:t>digunakan</a:t>
              </a:r>
              <a:r>
                <a:rPr lang="en-ID" sz="4400" dirty="0"/>
                <a:t> </a:t>
              </a:r>
              <a:r>
                <a:rPr lang="en-ID" sz="4400" dirty="0" err="1"/>
                <a:t>untuk</a:t>
              </a:r>
              <a:r>
                <a:rPr lang="en-ID" sz="4400" dirty="0"/>
                <a:t> </a:t>
              </a:r>
              <a:r>
                <a:rPr lang="en-ID" sz="4400" dirty="0" err="1"/>
                <a:t>mengurangi</a:t>
              </a:r>
              <a:r>
                <a:rPr lang="en-ID" sz="4400" dirty="0"/>
                <a:t> "noise </a:t>
              </a:r>
              <a:r>
                <a:rPr lang="en-ID" sz="4400" dirty="0" err="1"/>
                <a:t>gambar</a:t>
              </a:r>
              <a:r>
                <a:rPr lang="en-ID" sz="4400" dirty="0"/>
                <a:t>" dan </a:t>
              </a:r>
              <a:r>
                <a:rPr lang="en-ID" sz="4400" dirty="0" err="1"/>
                <a:t>mengurangi</a:t>
              </a:r>
              <a:r>
                <a:rPr lang="en-ID" sz="4400" dirty="0"/>
                <a:t> detail </a:t>
              </a:r>
              <a:r>
                <a:rPr lang="en-ID" sz="4400" dirty="0" err="1"/>
                <a:t>gambar</a:t>
              </a:r>
              <a:r>
                <a:rPr lang="en-ID" sz="4400" dirty="0"/>
                <a:t>. Noise </a:t>
              </a:r>
              <a:r>
                <a:rPr lang="en-ID" sz="4400" dirty="0" err="1"/>
                <a:t>gambar</a:t>
              </a:r>
              <a:r>
                <a:rPr lang="en-ID" sz="4400" dirty="0"/>
                <a:t> </a:t>
              </a:r>
              <a:r>
                <a:rPr lang="en-ID" sz="4400" dirty="0" err="1"/>
                <a:t>merupakan</a:t>
              </a:r>
              <a:r>
                <a:rPr lang="en-ID" sz="4400" dirty="0"/>
                <a:t> </a:t>
              </a:r>
              <a:r>
                <a:rPr lang="en-ID" sz="4400" dirty="0" err="1"/>
                <a:t>variasi</a:t>
              </a:r>
              <a:r>
                <a:rPr lang="en-ID" sz="4400" dirty="0"/>
                <a:t> </a:t>
              </a:r>
              <a:r>
                <a:rPr lang="en-ID" sz="4400" dirty="0" err="1"/>
                <a:t>acak</a:t>
              </a:r>
              <a:r>
                <a:rPr lang="en-ID" sz="4400" dirty="0"/>
                <a:t> </a:t>
              </a:r>
              <a:r>
                <a:rPr lang="en-ID" sz="4400" dirty="0" err="1"/>
                <a:t>dari</a:t>
              </a:r>
              <a:r>
                <a:rPr lang="en-ID" sz="4400" dirty="0"/>
                <a:t> </a:t>
              </a:r>
              <a:r>
                <a:rPr lang="en-ID" sz="4400" dirty="0" err="1"/>
                <a:t>pencahayaan</a:t>
              </a:r>
              <a:r>
                <a:rPr lang="en-ID" sz="4400" dirty="0"/>
                <a:t> </a:t>
              </a:r>
              <a:r>
                <a:rPr lang="en-ID" sz="4400" dirty="0" err="1"/>
                <a:t>atau</a:t>
              </a:r>
              <a:r>
                <a:rPr lang="en-ID" sz="4400" dirty="0"/>
                <a:t> </a:t>
              </a:r>
              <a:r>
                <a:rPr lang="en-ID" sz="4400" dirty="0" err="1"/>
                <a:t>informasi</a:t>
              </a:r>
              <a:r>
                <a:rPr lang="en-ID" sz="4400" dirty="0"/>
                <a:t> </a:t>
              </a:r>
              <a:r>
                <a:rPr lang="en-ID" sz="4400" dirty="0" err="1"/>
                <a:t>warna</a:t>
              </a:r>
              <a:r>
                <a:rPr lang="en-ID" sz="4400" dirty="0"/>
                <a:t> </a:t>
              </a:r>
              <a:r>
                <a:rPr lang="en-ID" sz="4400" dirty="0" err="1"/>
                <a:t>dalam</a:t>
              </a:r>
              <a:r>
                <a:rPr lang="en-ID" sz="4400" dirty="0"/>
                <a:t> </a:t>
              </a:r>
              <a:r>
                <a:rPr lang="en-ID" sz="4400" dirty="0" err="1"/>
                <a:t>gambar</a:t>
              </a:r>
              <a:r>
                <a:rPr lang="en-ID" sz="4400" dirty="0"/>
                <a:t>.</a:t>
              </a:r>
              <a:endParaRPr lang="en-ID" sz="440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2638" cy="71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0" y="1730726"/>
            <a:ext cx="5322211" cy="7354814"/>
          </a:xfrm>
          <a:custGeom>
            <a:avLst/>
            <a:gdLst/>
            <a:ahLst/>
            <a:cxnLst/>
            <a:rect l="l" t="t" r="r" b="b"/>
            <a:pathLst>
              <a:path w="5322211" h="7354814">
                <a:moveTo>
                  <a:pt x="0" y="0"/>
                </a:moveTo>
                <a:lnTo>
                  <a:pt x="5322211" y="0"/>
                </a:lnTo>
                <a:lnTo>
                  <a:pt x="5322211" y="7354814"/>
                </a:lnTo>
                <a:lnTo>
                  <a:pt x="0" y="73548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5" name="TextBox 15"/>
          <p:cNvSpPr txBox="1"/>
          <p:nvPr/>
        </p:nvSpPr>
        <p:spPr>
          <a:xfrm>
            <a:off x="4953000" y="739341"/>
            <a:ext cx="1313403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Pengolahan</a:t>
            </a:r>
            <a:r>
              <a:rPr lang="es-E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Citra Digital </a:t>
            </a:r>
            <a:r>
              <a:rPr lang="es-ES" sz="6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s-E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373020" y="9520630"/>
            <a:ext cx="446739" cy="446739"/>
          </a:xfrm>
          <a:custGeom>
            <a:avLst/>
            <a:gdLst/>
            <a:ahLst/>
            <a:cxnLst/>
            <a:rect l="l" t="t" r="r" b="b"/>
            <a:pathLst>
              <a:path w="446739" h="446739">
                <a:moveTo>
                  <a:pt x="0" y="0"/>
                </a:moveTo>
                <a:lnTo>
                  <a:pt x="446738" y="0"/>
                </a:lnTo>
                <a:lnTo>
                  <a:pt x="446738" y="446739"/>
                </a:lnTo>
                <a:lnTo>
                  <a:pt x="0" y="446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1" name="TextBox 21"/>
          <p:cNvSpPr txBox="1"/>
          <p:nvPr/>
        </p:nvSpPr>
        <p:spPr>
          <a:xfrm>
            <a:off x="916671" y="9503747"/>
            <a:ext cx="2448371" cy="42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INFOTI_UNPAM</a:t>
            </a:r>
            <a:endParaRPr lang="en-US" sz="2455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2675676" y="9256007"/>
            <a:ext cx="425407" cy="394053"/>
          </a:xfrm>
          <a:custGeom>
            <a:avLst/>
            <a:gdLst/>
            <a:ahLst/>
            <a:cxnLst/>
            <a:rect l="l" t="t" r="r" b="b"/>
            <a:pathLst>
              <a:path w="421901" h="394053">
                <a:moveTo>
                  <a:pt x="0" y="0"/>
                </a:moveTo>
                <a:lnTo>
                  <a:pt x="421900" y="0"/>
                </a:lnTo>
                <a:lnTo>
                  <a:pt x="421900" y="394053"/>
                </a:lnTo>
                <a:lnTo>
                  <a:pt x="0" y="39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066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3" name="TextBox 23"/>
          <p:cNvSpPr txBox="1"/>
          <p:nvPr/>
        </p:nvSpPr>
        <p:spPr>
          <a:xfrm>
            <a:off x="13101083" y="9256007"/>
            <a:ext cx="4812368" cy="42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INFORMATIKA.UNPAM.AC.ID</a:t>
            </a:r>
            <a:endParaRPr lang="en-US" sz="2455" dirty="0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12016" y="2132086"/>
            <a:ext cx="11421138" cy="6897614"/>
            <a:chOff x="0" y="0"/>
            <a:chExt cx="2442638" cy="67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638" cy="677577"/>
            </a:xfrm>
            <a:custGeom>
              <a:avLst/>
              <a:gdLst/>
              <a:ahLst/>
              <a:cxnLst/>
              <a:rect l="l" t="t" r="r" b="b"/>
              <a:pathLst>
                <a:path w="2442638" h="677577">
                  <a:moveTo>
                    <a:pt x="16695" y="0"/>
                  </a:moveTo>
                  <a:lnTo>
                    <a:pt x="2425943" y="0"/>
                  </a:lnTo>
                  <a:cubicBezTo>
                    <a:pt x="2430370" y="0"/>
                    <a:pt x="2434617" y="1759"/>
                    <a:pt x="2437748" y="4890"/>
                  </a:cubicBezTo>
                  <a:cubicBezTo>
                    <a:pt x="2440879" y="8021"/>
                    <a:pt x="2442638" y="12267"/>
                    <a:pt x="2442638" y="16695"/>
                  </a:cubicBezTo>
                  <a:lnTo>
                    <a:pt x="2442638" y="660882"/>
                  </a:lnTo>
                  <a:cubicBezTo>
                    <a:pt x="2442638" y="665309"/>
                    <a:pt x="2440879" y="669556"/>
                    <a:pt x="2437748" y="672687"/>
                  </a:cubicBezTo>
                  <a:cubicBezTo>
                    <a:pt x="2434617" y="675818"/>
                    <a:pt x="2430370" y="677577"/>
                    <a:pt x="2425943" y="677577"/>
                  </a:cubicBezTo>
                  <a:lnTo>
                    <a:pt x="16695" y="677577"/>
                  </a:lnTo>
                  <a:cubicBezTo>
                    <a:pt x="12267" y="677577"/>
                    <a:pt x="8021" y="675818"/>
                    <a:pt x="4890" y="672687"/>
                  </a:cubicBezTo>
                  <a:cubicBezTo>
                    <a:pt x="1759" y="669556"/>
                    <a:pt x="0" y="665309"/>
                    <a:pt x="0" y="660882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F5F5F5">
                <a:alpha val="19608"/>
              </a:srgbClr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2638" cy="71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819759" y="1674886"/>
            <a:ext cx="5322211" cy="7354814"/>
          </a:xfrm>
          <a:custGeom>
            <a:avLst/>
            <a:gdLst/>
            <a:ahLst/>
            <a:cxnLst/>
            <a:rect l="l" t="t" r="r" b="b"/>
            <a:pathLst>
              <a:path w="5322211" h="7354814">
                <a:moveTo>
                  <a:pt x="0" y="0"/>
                </a:moveTo>
                <a:lnTo>
                  <a:pt x="5322211" y="0"/>
                </a:lnTo>
                <a:lnTo>
                  <a:pt x="5322211" y="7354814"/>
                </a:lnTo>
                <a:lnTo>
                  <a:pt x="0" y="73548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5" name="TextBox 15"/>
          <p:cNvSpPr txBox="1"/>
          <p:nvPr/>
        </p:nvSpPr>
        <p:spPr>
          <a:xfrm>
            <a:off x="6870457" y="795635"/>
            <a:ext cx="9924045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ID" sz="5400" dirty="0">
                <a:solidFill>
                  <a:schemeClr val="bg1"/>
                </a:solidFill>
              </a:rPr>
              <a:t>Gaussian </a:t>
            </a:r>
            <a:r>
              <a:rPr lang="en-ID" sz="5400" dirty="0">
                <a:solidFill>
                  <a:schemeClr val="bg1"/>
                </a:solidFill>
                <a:latin typeface="+mj-lt"/>
              </a:rPr>
              <a:t>Blur</a:t>
            </a:r>
            <a:endParaRPr lang="en-US" sz="5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373020" y="9520630"/>
            <a:ext cx="446739" cy="446739"/>
          </a:xfrm>
          <a:custGeom>
            <a:avLst/>
            <a:gdLst/>
            <a:ahLst/>
            <a:cxnLst/>
            <a:rect l="l" t="t" r="r" b="b"/>
            <a:pathLst>
              <a:path w="446739" h="446739">
                <a:moveTo>
                  <a:pt x="0" y="0"/>
                </a:moveTo>
                <a:lnTo>
                  <a:pt x="446738" y="0"/>
                </a:lnTo>
                <a:lnTo>
                  <a:pt x="446738" y="446739"/>
                </a:lnTo>
                <a:lnTo>
                  <a:pt x="0" y="446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1" name="TextBox 21"/>
          <p:cNvSpPr txBox="1"/>
          <p:nvPr/>
        </p:nvSpPr>
        <p:spPr>
          <a:xfrm>
            <a:off x="916671" y="9503747"/>
            <a:ext cx="2448371" cy="42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INFOTI_UNPAM</a:t>
            </a:r>
            <a:endParaRPr lang="en-US" sz="2455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2696735" y="9217605"/>
            <a:ext cx="425407" cy="394053"/>
          </a:xfrm>
          <a:custGeom>
            <a:avLst/>
            <a:gdLst/>
            <a:ahLst/>
            <a:cxnLst/>
            <a:rect l="l" t="t" r="r" b="b"/>
            <a:pathLst>
              <a:path w="421901" h="394053">
                <a:moveTo>
                  <a:pt x="0" y="0"/>
                </a:moveTo>
                <a:lnTo>
                  <a:pt x="421900" y="0"/>
                </a:lnTo>
                <a:lnTo>
                  <a:pt x="421900" y="394053"/>
                </a:lnTo>
                <a:lnTo>
                  <a:pt x="0" y="39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066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3" name="TextBox 23"/>
          <p:cNvSpPr txBox="1"/>
          <p:nvPr/>
        </p:nvSpPr>
        <p:spPr>
          <a:xfrm>
            <a:off x="13122142" y="9202953"/>
            <a:ext cx="4812368" cy="42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INFORMATIKA.UNPAM.AC.ID</a:t>
            </a:r>
            <a:endParaRPr lang="en-US" sz="2455" dirty="0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149670"/>
            <a:ext cx="11632353" cy="69122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0315" y="2132085"/>
            <a:ext cx="9268485" cy="7070868"/>
            <a:chOff x="0" y="0"/>
            <a:chExt cx="2442638" cy="67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638" cy="677577"/>
            </a:xfrm>
            <a:custGeom>
              <a:avLst/>
              <a:gdLst/>
              <a:ahLst/>
              <a:cxnLst/>
              <a:rect l="l" t="t" r="r" b="b"/>
              <a:pathLst>
                <a:path w="2442638" h="677577">
                  <a:moveTo>
                    <a:pt x="16695" y="0"/>
                  </a:moveTo>
                  <a:lnTo>
                    <a:pt x="2425943" y="0"/>
                  </a:lnTo>
                  <a:cubicBezTo>
                    <a:pt x="2430370" y="0"/>
                    <a:pt x="2434617" y="1759"/>
                    <a:pt x="2437748" y="4890"/>
                  </a:cubicBezTo>
                  <a:cubicBezTo>
                    <a:pt x="2440879" y="8021"/>
                    <a:pt x="2442638" y="12267"/>
                    <a:pt x="2442638" y="16695"/>
                  </a:cubicBezTo>
                  <a:lnTo>
                    <a:pt x="2442638" y="660882"/>
                  </a:lnTo>
                  <a:cubicBezTo>
                    <a:pt x="2442638" y="665309"/>
                    <a:pt x="2440879" y="669556"/>
                    <a:pt x="2437748" y="672687"/>
                  </a:cubicBezTo>
                  <a:cubicBezTo>
                    <a:pt x="2434617" y="675818"/>
                    <a:pt x="2430370" y="677577"/>
                    <a:pt x="2425943" y="677577"/>
                  </a:cubicBezTo>
                  <a:lnTo>
                    <a:pt x="16695" y="677577"/>
                  </a:lnTo>
                  <a:cubicBezTo>
                    <a:pt x="12267" y="677577"/>
                    <a:pt x="8021" y="675818"/>
                    <a:pt x="4890" y="672687"/>
                  </a:cubicBezTo>
                  <a:cubicBezTo>
                    <a:pt x="1759" y="669556"/>
                    <a:pt x="0" y="665309"/>
                    <a:pt x="0" y="660882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F5F5F5">
                <a:alpha val="19608"/>
              </a:srgbClr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2638" cy="71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401647" y="1903486"/>
            <a:ext cx="5322211" cy="7354814"/>
          </a:xfrm>
          <a:custGeom>
            <a:avLst/>
            <a:gdLst/>
            <a:ahLst/>
            <a:cxnLst/>
            <a:rect l="l" t="t" r="r" b="b"/>
            <a:pathLst>
              <a:path w="5322211" h="7354814">
                <a:moveTo>
                  <a:pt x="0" y="0"/>
                </a:moveTo>
                <a:lnTo>
                  <a:pt x="5322211" y="0"/>
                </a:lnTo>
                <a:lnTo>
                  <a:pt x="5322211" y="7354814"/>
                </a:lnTo>
                <a:lnTo>
                  <a:pt x="0" y="73548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5" name="TextBox 15"/>
          <p:cNvSpPr txBox="1"/>
          <p:nvPr/>
        </p:nvSpPr>
        <p:spPr>
          <a:xfrm>
            <a:off x="6870457" y="795635"/>
            <a:ext cx="9924045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HASIL SETELAH DI RUN: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373020" y="9520630"/>
            <a:ext cx="446739" cy="446739"/>
          </a:xfrm>
          <a:custGeom>
            <a:avLst/>
            <a:gdLst/>
            <a:ahLst/>
            <a:cxnLst/>
            <a:rect l="l" t="t" r="r" b="b"/>
            <a:pathLst>
              <a:path w="446739" h="446739">
                <a:moveTo>
                  <a:pt x="0" y="0"/>
                </a:moveTo>
                <a:lnTo>
                  <a:pt x="446738" y="0"/>
                </a:lnTo>
                <a:lnTo>
                  <a:pt x="446738" y="446739"/>
                </a:lnTo>
                <a:lnTo>
                  <a:pt x="0" y="446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1" name="TextBox 21"/>
          <p:cNvSpPr txBox="1"/>
          <p:nvPr/>
        </p:nvSpPr>
        <p:spPr>
          <a:xfrm>
            <a:off x="916671" y="9503747"/>
            <a:ext cx="2448371" cy="42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INFOTI_UNPAM</a:t>
            </a:r>
            <a:endParaRPr lang="en-US" sz="2455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2696735" y="9217605"/>
            <a:ext cx="425407" cy="394053"/>
          </a:xfrm>
          <a:custGeom>
            <a:avLst/>
            <a:gdLst/>
            <a:ahLst/>
            <a:cxnLst/>
            <a:rect l="l" t="t" r="r" b="b"/>
            <a:pathLst>
              <a:path w="421901" h="394053">
                <a:moveTo>
                  <a:pt x="0" y="0"/>
                </a:moveTo>
                <a:lnTo>
                  <a:pt x="421900" y="0"/>
                </a:lnTo>
                <a:lnTo>
                  <a:pt x="421900" y="394053"/>
                </a:lnTo>
                <a:lnTo>
                  <a:pt x="0" y="39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066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3" name="TextBox 23"/>
          <p:cNvSpPr txBox="1"/>
          <p:nvPr/>
        </p:nvSpPr>
        <p:spPr>
          <a:xfrm>
            <a:off x="13122142" y="9202953"/>
            <a:ext cx="4812368" cy="42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INFORMATIKA.UNPAM.AC.ID</a:t>
            </a:r>
            <a:endParaRPr lang="en-US" sz="2455" dirty="0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709" y="2272008"/>
            <a:ext cx="8783644" cy="67430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92873" y="2331716"/>
            <a:ext cx="12056985" cy="6897614"/>
            <a:chOff x="0" y="0"/>
            <a:chExt cx="2442638" cy="67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638" cy="677577"/>
            </a:xfrm>
            <a:custGeom>
              <a:avLst/>
              <a:gdLst/>
              <a:ahLst/>
              <a:cxnLst/>
              <a:rect l="l" t="t" r="r" b="b"/>
              <a:pathLst>
                <a:path w="2442638" h="677577">
                  <a:moveTo>
                    <a:pt x="16695" y="0"/>
                  </a:moveTo>
                  <a:lnTo>
                    <a:pt x="2425943" y="0"/>
                  </a:lnTo>
                  <a:cubicBezTo>
                    <a:pt x="2430370" y="0"/>
                    <a:pt x="2434617" y="1759"/>
                    <a:pt x="2437748" y="4890"/>
                  </a:cubicBezTo>
                  <a:cubicBezTo>
                    <a:pt x="2440879" y="8021"/>
                    <a:pt x="2442638" y="12267"/>
                    <a:pt x="2442638" y="16695"/>
                  </a:cubicBezTo>
                  <a:lnTo>
                    <a:pt x="2442638" y="660882"/>
                  </a:lnTo>
                  <a:cubicBezTo>
                    <a:pt x="2442638" y="665309"/>
                    <a:pt x="2440879" y="669556"/>
                    <a:pt x="2437748" y="672687"/>
                  </a:cubicBezTo>
                  <a:cubicBezTo>
                    <a:pt x="2434617" y="675818"/>
                    <a:pt x="2430370" y="677577"/>
                    <a:pt x="2425943" y="677577"/>
                  </a:cubicBezTo>
                  <a:lnTo>
                    <a:pt x="16695" y="677577"/>
                  </a:lnTo>
                  <a:cubicBezTo>
                    <a:pt x="12267" y="677577"/>
                    <a:pt x="8021" y="675818"/>
                    <a:pt x="4890" y="672687"/>
                  </a:cubicBezTo>
                  <a:cubicBezTo>
                    <a:pt x="1759" y="669556"/>
                    <a:pt x="0" y="665309"/>
                    <a:pt x="0" y="660882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F5F5F5">
                <a:alpha val="19608"/>
              </a:srgbClr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2638" cy="71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401647" y="1903486"/>
            <a:ext cx="5322211" cy="7354814"/>
          </a:xfrm>
          <a:custGeom>
            <a:avLst/>
            <a:gdLst/>
            <a:ahLst/>
            <a:cxnLst/>
            <a:rect l="l" t="t" r="r" b="b"/>
            <a:pathLst>
              <a:path w="5322211" h="7354814">
                <a:moveTo>
                  <a:pt x="0" y="0"/>
                </a:moveTo>
                <a:lnTo>
                  <a:pt x="5322211" y="0"/>
                </a:lnTo>
                <a:lnTo>
                  <a:pt x="5322211" y="7354814"/>
                </a:lnTo>
                <a:lnTo>
                  <a:pt x="0" y="73548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5" name="TextBox 15"/>
          <p:cNvSpPr txBox="1"/>
          <p:nvPr/>
        </p:nvSpPr>
        <p:spPr>
          <a:xfrm>
            <a:off x="6870457" y="795635"/>
            <a:ext cx="9924045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Kesimpulan </a:t>
            </a:r>
            <a:r>
              <a:rPr lang="en-US" sz="6600" dirty="0" err="1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Materi</a:t>
            </a:r>
            <a:r>
              <a:rPr lang="en-US" sz="6600" dirty="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373020" y="9520630"/>
            <a:ext cx="446739" cy="446739"/>
          </a:xfrm>
          <a:custGeom>
            <a:avLst/>
            <a:gdLst/>
            <a:ahLst/>
            <a:cxnLst/>
            <a:rect l="l" t="t" r="r" b="b"/>
            <a:pathLst>
              <a:path w="446739" h="446739">
                <a:moveTo>
                  <a:pt x="0" y="0"/>
                </a:moveTo>
                <a:lnTo>
                  <a:pt x="446738" y="0"/>
                </a:lnTo>
                <a:lnTo>
                  <a:pt x="446738" y="446739"/>
                </a:lnTo>
                <a:lnTo>
                  <a:pt x="0" y="446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1" name="TextBox 21"/>
          <p:cNvSpPr txBox="1"/>
          <p:nvPr/>
        </p:nvSpPr>
        <p:spPr>
          <a:xfrm>
            <a:off x="916671" y="9503747"/>
            <a:ext cx="2448371" cy="42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INFOTI_UNPAM</a:t>
            </a:r>
            <a:endParaRPr lang="en-US" sz="2455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2696735" y="9217605"/>
            <a:ext cx="425407" cy="394053"/>
          </a:xfrm>
          <a:custGeom>
            <a:avLst/>
            <a:gdLst/>
            <a:ahLst/>
            <a:cxnLst/>
            <a:rect l="l" t="t" r="r" b="b"/>
            <a:pathLst>
              <a:path w="421901" h="394053">
                <a:moveTo>
                  <a:pt x="0" y="0"/>
                </a:moveTo>
                <a:lnTo>
                  <a:pt x="421900" y="0"/>
                </a:lnTo>
                <a:lnTo>
                  <a:pt x="421900" y="394053"/>
                </a:lnTo>
                <a:lnTo>
                  <a:pt x="0" y="39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066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3" name="TextBox 23"/>
          <p:cNvSpPr txBox="1"/>
          <p:nvPr/>
        </p:nvSpPr>
        <p:spPr>
          <a:xfrm>
            <a:off x="13122142" y="9202953"/>
            <a:ext cx="4812368" cy="42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INFORMATIKA.UNPAM.AC.ID</a:t>
            </a:r>
            <a:endParaRPr lang="en-US" sz="2455" dirty="0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400800" y="2648898"/>
            <a:ext cx="1194905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Materi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kedua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membahas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teknik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Gaussian Blur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yaitu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metode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memudarkan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atau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mengaburkan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gambar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menggunakan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fungsi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Gaussian.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Tujuan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utama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dari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Gaussian Blur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adalah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Mengurangi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noise (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gangguan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pada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gambar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Mengurangi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detail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gambar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agar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tampak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lebih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halus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Dalam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Python,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efek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dapat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diterapkan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menggunakan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ImageFilter.GaussianBlur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(level)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di mana parameter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level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menentukan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seberapa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kuat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efek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blur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diterapkan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pada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citra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0315" y="2132085"/>
            <a:ext cx="9268485" cy="7070868"/>
            <a:chOff x="0" y="0"/>
            <a:chExt cx="2442638" cy="67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638" cy="677577"/>
            </a:xfrm>
            <a:custGeom>
              <a:avLst/>
              <a:gdLst/>
              <a:ahLst/>
              <a:cxnLst/>
              <a:rect l="l" t="t" r="r" b="b"/>
              <a:pathLst>
                <a:path w="2442638" h="677577">
                  <a:moveTo>
                    <a:pt x="16695" y="0"/>
                  </a:moveTo>
                  <a:lnTo>
                    <a:pt x="2425943" y="0"/>
                  </a:lnTo>
                  <a:cubicBezTo>
                    <a:pt x="2430370" y="0"/>
                    <a:pt x="2434617" y="1759"/>
                    <a:pt x="2437748" y="4890"/>
                  </a:cubicBezTo>
                  <a:cubicBezTo>
                    <a:pt x="2440879" y="8021"/>
                    <a:pt x="2442638" y="12267"/>
                    <a:pt x="2442638" y="16695"/>
                  </a:cubicBezTo>
                  <a:lnTo>
                    <a:pt x="2442638" y="660882"/>
                  </a:lnTo>
                  <a:cubicBezTo>
                    <a:pt x="2442638" y="665309"/>
                    <a:pt x="2440879" y="669556"/>
                    <a:pt x="2437748" y="672687"/>
                  </a:cubicBezTo>
                  <a:cubicBezTo>
                    <a:pt x="2434617" y="675818"/>
                    <a:pt x="2430370" y="677577"/>
                    <a:pt x="2425943" y="677577"/>
                  </a:cubicBezTo>
                  <a:lnTo>
                    <a:pt x="16695" y="677577"/>
                  </a:lnTo>
                  <a:cubicBezTo>
                    <a:pt x="12267" y="677577"/>
                    <a:pt x="8021" y="675818"/>
                    <a:pt x="4890" y="672687"/>
                  </a:cubicBezTo>
                  <a:cubicBezTo>
                    <a:pt x="1759" y="669556"/>
                    <a:pt x="0" y="665309"/>
                    <a:pt x="0" y="660882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F5F5F5">
                <a:alpha val="19608"/>
              </a:srgbClr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2638" cy="71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401647" y="1903486"/>
            <a:ext cx="5322211" cy="7354814"/>
          </a:xfrm>
          <a:custGeom>
            <a:avLst/>
            <a:gdLst/>
            <a:ahLst/>
            <a:cxnLst/>
            <a:rect l="l" t="t" r="r" b="b"/>
            <a:pathLst>
              <a:path w="5322211" h="7354814">
                <a:moveTo>
                  <a:pt x="0" y="0"/>
                </a:moveTo>
                <a:lnTo>
                  <a:pt x="5322211" y="0"/>
                </a:lnTo>
                <a:lnTo>
                  <a:pt x="5322211" y="7354814"/>
                </a:lnTo>
                <a:lnTo>
                  <a:pt x="0" y="73548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5" name="TextBox 15"/>
          <p:cNvSpPr txBox="1"/>
          <p:nvPr/>
        </p:nvSpPr>
        <p:spPr>
          <a:xfrm>
            <a:off x="6870457" y="795635"/>
            <a:ext cx="9924045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SOAL LATIHAN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373020" y="9520630"/>
            <a:ext cx="446739" cy="446739"/>
          </a:xfrm>
          <a:custGeom>
            <a:avLst/>
            <a:gdLst/>
            <a:ahLst/>
            <a:cxnLst/>
            <a:rect l="l" t="t" r="r" b="b"/>
            <a:pathLst>
              <a:path w="446739" h="446739">
                <a:moveTo>
                  <a:pt x="0" y="0"/>
                </a:moveTo>
                <a:lnTo>
                  <a:pt x="446738" y="0"/>
                </a:lnTo>
                <a:lnTo>
                  <a:pt x="446738" y="446739"/>
                </a:lnTo>
                <a:lnTo>
                  <a:pt x="0" y="446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1" name="TextBox 21"/>
          <p:cNvSpPr txBox="1"/>
          <p:nvPr/>
        </p:nvSpPr>
        <p:spPr>
          <a:xfrm>
            <a:off x="916671" y="9503747"/>
            <a:ext cx="2448371" cy="42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INFOTI_UNPAM</a:t>
            </a:r>
            <a:endParaRPr lang="en-US" sz="2455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2696735" y="9217605"/>
            <a:ext cx="425407" cy="394053"/>
          </a:xfrm>
          <a:custGeom>
            <a:avLst/>
            <a:gdLst/>
            <a:ahLst/>
            <a:cxnLst/>
            <a:rect l="l" t="t" r="r" b="b"/>
            <a:pathLst>
              <a:path w="421901" h="394053">
                <a:moveTo>
                  <a:pt x="0" y="0"/>
                </a:moveTo>
                <a:lnTo>
                  <a:pt x="421900" y="0"/>
                </a:lnTo>
                <a:lnTo>
                  <a:pt x="421900" y="394053"/>
                </a:lnTo>
                <a:lnTo>
                  <a:pt x="0" y="39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066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3" name="TextBox 23"/>
          <p:cNvSpPr txBox="1"/>
          <p:nvPr/>
        </p:nvSpPr>
        <p:spPr>
          <a:xfrm>
            <a:off x="13122142" y="9202953"/>
            <a:ext cx="4812368" cy="42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INFORMATIKA.UNPAM.AC.ID</a:t>
            </a:r>
            <a:endParaRPr lang="en-US" sz="2455" dirty="0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314" y="2108640"/>
            <a:ext cx="9268485" cy="70708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48401" y="2132085"/>
            <a:ext cx="10820400" cy="7070868"/>
            <a:chOff x="0" y="0"/>
            <a:chExt cx="2442638" cy="67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638" cy="677577"/>
            </a:xfrm>
            <a:custGeom>
              <a:avLst/>
              <a:gdLst/>
              <a:ahLst/>
              <a:cxnLst/>
              <a:rect l="l" t="t" r="r" b="b"/>
              <a:pathLst>
                <a:path w="2442638" h="677577">
                  <a:moveTo>
                    <a:pt x="16695" y="0"/>
                  </a:moveTo>
                  <a:lnTo>
                    <a:pt x="2425943" y="0"/>
                  </a:lnTo>
                  <a:cubicBezTo>
                    <a:pt x="2430370" y="0"/>
                    <a:pt x="2434617" y="1759"/>
                    <a:pt x="2437748" y="4890"/>
                  </a:cubicBezTo>
                  <a:cubicBezTo>
                    <a:pt x="2440879" y="8021"/>
                    <a:pt x="2442638" y="12267"/>
                    <a:pt x="2442638" y="16695"/>
                  </a:cubicBezTo>
                  <a:lnTo>
                    <a:pt x="2442638" y="660882"/>
                  </a:lnTo>
                  <a:cubicBezTo>
                    <a:pt x="2442638" y="665309"/>
                    <a:pt x="2440879" y="669556"/>
                    <a:pt x="2437748" y="672687"/>
                  </a:cubicBezTo>
                  <a:cubicBezTo>
                    <a:pt x="2434617" y="675818"/>
                    <a:pt x="2430370" y="677577"/>
                    <a:pt x="2425943" y="677577"/>
                  </a:cubicBezTo>
                  <a:lnTo>
                    <a:pt x="16695" y="677577"/>
                  </a:lnTo>
                  <a:cubicBezTo>
                    <a:pt x="12267" y="677577"/>
                    <a:pt x="8021" y="675818"/>
                    <a:pt x="4890" y="672687"/>
                  </a:cubicBezTo>
                  <a:cubicBezTo>
                    <a:pt x="1759" y="669556"/>
                    <a:pt x="0" y="665309"/>
                    <a:pt x="0" y="660882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F5F5F5">
                <a:alpha val="19608"/>
              </a:srgbClr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2638" cy="71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401647" y="1903486"/>
            <a:ext cx="5322211" cy="7354814"/>
          </a:xfrm>
          <a:custGeom>
            <a:avLst/>
            <a:gdLst/>
            <a:ahLst/>
            <a:cxnLst/>
            <a:rect l="l" t="t" r="r" b="b"/>
            <a:pathLst>
              <a:path w="5322211" h="7354814">
                <a:moveTo>
                  <a:pt x="0" y="0"/>
                </a:moveTo>
                <a:lnTo>
                  <a:pt x="5322211" y="0"/>
                </a:lnTo>
                <a:lnTo>
                  <a:pt x="5322211" y="7354814"/>
                </a:lnTo>
                <a:lnTo>
                  <a:pt x="0" y="73548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5" name="TextBox 15"/>
          <p:cNvSpPr txBox="1"/>
          <p:nvPr/>
        </p:nvSpPr>
        <p:spPr>
          <a:xfrm>
            <a:off x="6870457" y="795635"/>
            <a:ext cx="9924045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 GAU</a:t>
            </a:r>
            <a:r>
              <a:rPr lang="id-ID" altLang="en-US" sz="6600" dirty="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SSIAN BLUR</a:t>
            </a:r>
            <a:r>
              <a:rPr lang="en-US" sz="6600" dirty="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373020" y="9520630"/>
            <a:ext cx="446739" cy="446739"/>
          </a:xfrm>
          <a:custGeom>
            <a:avLst/>
            <a:gdLst/>
            <a:ahLst/>
            <a:cxnLst/>
            <a:rect l="l" t="t" r="r" b="b"/>
            <a:pathLst>
              <a:path w="446739" h="446739">
                <a:moveTo>
                  <a:pt x="0" y="0"/>
                </a:moveTo>
                <a:lnTo>
                  <a:pt x="446738" y="0"/>
                </a:lnTo>
                <a:lnTo>
                  <a:pt x="446738" y="446739"/>
                </a:lnTo>
                <a:lnTo>
                  <a:pt x="0" y="446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1" name="TextBox 21"/>
          <p:cNvSpPr txBox="1"/>
          <p:nvPr/>
        </p:nvSpPr>
        <p:spPr>
          <a:xfrm>
            <a:off x="916671" y="9503747"/>
            <a:ext cx="2448371" cy="42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INFOTI_UNPAM</a:t>
            </a:r>
            <a:endParaRPr lang="en-US" sz="2455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2696735" y="9217605"/>
            <a:ext cx="425407" cy="394053"/>
          </a:xfrm>
          <a:custGeom>
            <a:avLst/>
            <a:gdLst/>
            <a:ahLst/>
            <a:cxnLst/>
            <a:rect l="l" t="t" r="r" b="b"/>
            <a:pathLst>
              <a:path w="421901" h="394053">
                <a:moveTo>
                  <a:pt x="0" y="0"/>
                </a:moveTo>
                <a:lnTo>
                  <a:pt x="421900" y="0"/>
                </a:lnTo>
                <a:lnTo>
                  <a:pt x="421900" y="394053"/>
                </a:lnTo>
                <a:lnTo>
                  <a:pt x="0" y="39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066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3" name="TextBox 23"/>
          <p:cNvSpPr txBox="1"/>
          <p:nvPr/>
        </p:nvSpPr>
        <p:spPr>
          <a:xfrm>
            <a:off x="13122142" y="9202953"/>
            <a:ext cx="4812368" cy="42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INFORMATIKA.UNPAM.AC.ID</a:t>
            </a:r>
            <a:endParaRPr lang="en-US" sz="2455" dirty="0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1" y="2073121"/>
            <a:ext cx="11686109" cy="71298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2462</Words>
  <Application>WPS Presentation</Application>
  <PresentationFormat>Custom</PresentationFormat>
  <Paragraphs>101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Antonio Bold</vt:lpstr>
      <vt:lpstr>TT Supermolot Neue Bold</vt:lpstr>
      <vt:lpstr>More Sugar</vt:lpstr>
      <vt:lpstr>Arial</vt:lpstr>
      <vt:lpstr>Times New Roman</vt:lpstr>
      <vt:lpstr>TT Supermolot Neue</vt:lpstr>
      <vt:lpstr>Segoe Print</vt:lpstr>
      <vt:lpstr>Calibri</vt:lpstr>
      <vt:lpstr>Arial Unicode MS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Teknik Informatika</dc:title>
  <dc:creator>Octaviana Anugrah Ade Purnama</dc:creator>
  <dc:subject>Template Power Point Teknik Informatika</dc:subject>
  <cp:category>Power Point Teknik Informatika</cp:category>
  <cp:lastModifiedBy>Akbar Farel</cp:lastModifiedBy>
  <cp:revision>23</cp:revision>
  <dcterms:created xsi:type="dcterms:W3CDTF">2006-08-16T00:00:00Z</dcterms:created>
  <dcterms:modified xsi:type="dcterms:W3CDTF">2025-11-10T06:23:15Z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1816EF4735C74A039079D35326950D2A_12</vt:lpwstr>
  </property>
  <property fmtid="{D5CDD505-2E9C-101B-9397-08002B2CF9AE}" pid="3" name="KSOProductBuildVer">
    <vt:lpwstr>1057-12.2.0.23155</vt:lpwstr>
  </property>
</Properties>
</file>